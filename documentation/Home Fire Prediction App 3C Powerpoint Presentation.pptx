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bril Fatface" panose="02000503000000020003" pitchFamily="2" charset="0"/>
      <p:regular r:id="rId12"/>
    </p:embeddedFont>
    <p:embeddedFont>
      <p:font typeface="Calibri" panose="020F0502020204030204" pitchFamily="34" charset="0"/>
      <p:regular r:id="rId13"/>
      <p:bold r:id="rId14"/>
      <p:italic r:id="rId15"/>
      <p:boldItalic r:id="rId16"/>
    </p:embeddedFont>
    <p:embeddedFont>
      <p:font typeface="Canva Sans" panose="020B0604020202020204" charset="0"/>
      <p:regular r:id="rId17"/>
    </p:embeddedFont>
    <p:embeddedFont>
      <p:font typeface="Canva Sans Bold" panose="020B0604020202020204" charset="0"/>
      <p:regular r:id="rId18"/>
    </p:embeddedFont>
    <p:embeddedFont>
      <p:font typeface="DM Sans" pitchFamily="2" charset="0"/>
      <p:regular r:id="rId19"/>
      <p:bold r:id="rId20"/>
      <p:italic r:id="rId21"/>
      <p:boldItalic r:id="rId22"/>
    </p:embeddedFont>
    <p:embeddedFont>
      <p:font typeface="DM Sans Bold" charset="0"/>
      <p:regular r:id="rId23"/>
    </p:embeddedFont>
    <p:embeddedFont>
      <p:font typeface="Fredoka One" panose="02000000000000000000" pitchFamily="2" charset="0"/>
      <p:regular r:id="rId24"/>
    </p:embeddedFont>
    <p:embeddedFont>
      <p:font typeface="League Spartan" panose="020B0604020202020204" charset="0"/>
      <p:regular r:id="rId25"/>
    </p:embeddedFont>
    <p:embeddedFont>
      <p:font typeface="Nunito" pitchFamily="2" charset="0"/>
      <p:regular r:id="rId26"/>
      <p:bold r:id="rId27"/>
      <p:italic r:id="rId28"/>
      <p:boldItalic r:id="rId29"/>
    </p:embeddedFont>
    <p:embeddedFont>
      <p:font typeface="Nunito Bold" charset="0"/>
      <p:regular r:id="rId30"/>
    </p:embeddedFont>
    <p:embeddedFont>
      <p:font typeface="Open Sans" panose="020B0606030504020204" pitchFamily="34" charset="0"/>
      <p:regular r:id="rId31"/>
    </p:embeddedFont>
    <p:embeddedFont>
      <p:font typeface="Open Sauce Light" panose="020B0604020202020204" charset="0"/>
      <p:regular r:id="rId32"/>
    </p:embeddedFont>
    <p:embeddedFont>
      <p:font typeface="Roboto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21" Type="http://schemas.openxmlformats.org/officeDocument/2006/relationships/font" Target="fonts/font10.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32" Type="http://schemas.openxmlformats.org/officeDocument/2006/relationships/font" Target="fonts/font2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8.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8.svg"/><Relationship Id="rId5" Type="http://schemas.openxmlformats.org/officeDocument/2006/relationships/image" Target="../media/image25.svg"/><Relationship Id="rId10" Type="http://schemas.openxmlformats.org/officeDocument/2006/relationships/image" Target="../media/image7.png"/><Relationship Id="rId4" Type="http://schemas.openxmlformats.org/officeDocument/2006/relationships/image" Target="../media/image24.png"/><Relationship Id="rId9" Type="http://schemas.openxmlformats.org/officeDocument/2006/relationships/image" Target="../media/image29.sv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8.svg"/><Relationship Id="rId3" Type="http://schemas.openxmlformats.org/officeDocument/2006/relationships/image" Target="../media/image31.svg"/><Relationship Id="rId7" Type="http://schemas.openxmlformats.org/officeDocument/2006/relationships/image" Target="../media/image35.svg"/><Relationship Id="rId12" Type="http://schemas.openxmlformats.org/officeDocument/2006/relationships/image" Target="../media/image7.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svg"/></Relationships>
</file>

<file path=ppt/slides/_rels/slide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sv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41.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7.sv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33.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7.sv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485556" y="454609"/>
            <a:ext cx="17316887" cy="9377782"/>
          </a:xfrm>
          <a:prstGeom prst="rect">
            <a:avLst/>
          </a:prstGeom>
          <a:solidFill>
            <a:srgbClr val="EFEFEF"/>
          </a:solidFill>
        </p:spPr>
      </p:sp>
      <p:sp>
        <p:nvSpPr>
          <p:cNvPr id="3" name="Freeform 3"/>
          <p:cNvSpPr/>
          <p:nvPr/>
        </p:nvSpPr>
        <p:spPr>
          <a:xfrm>
            <a:off x="6309035" y="6822921"/>
            <a:ext cx="5669929" cy="11454403"/>
          </a:xfrm>
          <a:custGeom>
            <a:avLst/>
            <a:gdLst/>
            <a:ahLst/>
            <a:cxnLst/>
            <a:rect l="l" t="t" r="r" b="b"/>
            <a:pathLst>
              <a:path w="5669929" h="11454403">
                <a:moveTo>
                  <a:pt x="0" y="0"/>
                </a:moveTo>
                <a:lnTo>
                  <a:pt x="5669930" y="0"/>
                </a:lnTo>
                <a:lnTo>
                  <a:pt x="5669930" y="11454403"/>
                </a:lnTo>
                <a:lnTo>
                  <a:pt x="0" y="11454403"/>
                </a:lnTo>
                <a:lnTo>
                  <a:pt x="0" y="0"/>
                </a:lnTo>
                <a:close/>
              </a:path>
            </a:pathLst>
          </a:custGeom>
          <a:blipFill>
            <a:blip r:embed="rId2"/>
            <a:stretch>
              <a:fillRect/>
            </a:stretch>
          </a:blipFill>
        </p:spPr>
      </p:sp>
      <p:sp>
        <p:nvSpPr>
          <p:cNvPr id="4" name="Freeform 4"/>
          <p:cNvSpPr/>
          <p:nvPr/>
        </p:nvSpPr>
        <p:spPr>
          <a:xfrm>
            <a:off x="6639882" y="7664054"/>
            <a:ext cx="3741694" cy="860590"/>
          </a:xfrm>
          <a:custGeom>
            <a:avLst/>
            <a:gdLst/>
            <a:ahLst/>
            <a:cxnLst/>
            <a:rect l="l" t="t" r="r" b="b"/>
            <a:pathLst>
              <a:path w="3741694" h="860590">
                <a:moveTo>
                  <a:pt x="0" y="0"/>
                </a:moveTo>
                <a:lnTo>
                  <a:pt x="3741694" y="0"/>
                </a:lnTo>
                <a:lnTo>
                  <a:pt x="3741694" y="860589"/>
                </a:lnTo>
                <a:lnTo>
                  <a:pt x="0" y="860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841098" y="7747091"/>
            <a:ext cx="694514" cy="694514"/>
          </a:xfrm>
          <a:custGeom>
            <a:avLst/>
            <a:gdLst/>
            <a:ahLst/>
            <a:cxnLst/>
            <a:rect l="l" t="t" r="r" b="b"/>
            <a:pathLst>
              <a:path w="694514" h="694514">
                <a:moveTo>
                  <a:pt x="0" y="0"/>
                </a:moveTo>
                <a:lnTo>
                  <a:pt x="694514" y="0"/>
                </a:lnTo>
                <a:lnTo>
                  <a:pt x="694514" y="694515"/>
                </a:lnTo>
                <a:lnTo>
                  <a:pt x="0" y="694515"/>
                </a:lnTo>
                <a:lnTo>
                  <a:pt x="0" y="0"/>
                </a:lnTo>
                <a:close/>
              </a:path>
            </a:pathLst>
          </a:custGeom>
          <a:blipFill>
            <a:blip r:embed="rId5"/>
            <a:stretch>
              <a:fillRect/>
            </a:stretch>
          </a:blipFill>
        </p:spPr>
      </p:sp>
      <p:sp>
        <p:nvSpPr>
          <p:cNvPr id="6" name="TextBox 6"/>
          <p:cNvSpPr txBox="1"/>
          <p:nvPr/>
        </p:nvSpPr>
        <p:spPr>
          <a:xfrm>
            <a:off x="1220246" y="2524615"/>
            <a:ext cx="16230600" cy="1460500"/>
          </a:xfrm>
          <a:prstGeom prst="rect">
            <a:avLst/>
          </a:prstGeom>
        </p:spPr>
        <p:txBody>
          <a:bodyPr lIns="0" tIns="0" rIns="0" bIns="0" rtlCol="0" anchor="t">
            <a:spAutoFit/>
          </a:bodyPr>
          <a:lstStyle/>
          <a:p>
            <a:pPr algn="ctr">
              <a:lnSpc>
                <a:spcPts val="11900"/>
              </a:lnSpc>
            </a:pPr>
            <a:r>
              <a:rPr lang="en-US" sz="8500">
                <a:solidFill>
                  <a:srgbClr val="000000"/>
                </a:solidFill>
                <a:latin typeface="League Spartan"/>
              </a:rPr>
              <a:t>Wide Awake:</a:t>
            </a:r>
          </a:p>
        </p:txBody>
      </p:sp>
      <p:sp>
        <p:nvSpPr>
          <p:cNvPr id="7" name="TextBox 7"/>
          <p:cNvSpPr txBox="1"/>
          <p:nvPr/>
        </p:nvSpPr>
        <p:spPr>
          <a:xfrm>
            <a:off x="1929056" y="3908915"/>
            <a:ext cx="14429888" cy="1384300"/>
          </a:xfrm>
          <a:prstGeom prst="rect">
            <a:avLst/>
          </a:prstGeom>
        </p:spPr>
        <p:txBody>
          <a:bodyPr lIns="0" tIns="0" rIns="0" bIns="0" rtlCol="0" anchor="t">
            <a:spAutoFit/>
          </a:bodyPr>
          <a:lstStyle/>
          <a:p>
            <a:pPr algn="ctr">
              <a:lnSpc>
                <a:spcPts val="5599"/>
              </a:lnSpc>
            </a:pPr>
            <a:r>
              <a:rPr lang="en-US" sz="3999">
                <a:solidFill>
                  <a:srgbClr val="000000"/>
                </a:solidFill>
                <a:latin typeface="Open Sauce Light"/>
              </a:rPr>
              <a:t>Fire prediction mobile app that  alerts the elderly when fire/smoke is detected</a:t>
            </a:r>
          </a:p>
        </p:txBody>
      </p:sp>
      <p:sp>
        <p:nvSpPr>
          <p:cNvPr id="8" name="TextBox 8"/>
          <p:cNvSpPr txBox="1"/>
          <p:nvPr/>
        </p:nvSpPr>
        <p:spPr>
          <a:xfrm>
            <a:off x="6885311" y="9422314"/>
            <a:ext cx="4321082" cy="349250"/>
          </a:xfrm>
          <a:prstGeom prst="rect">
            <a:avLst/>
          </a:prstGeom>
        </p:spPr>
        <p:txBody>
          <a:bodyPr lIns="0" tIns="0" rIns="0" bIns="0" rtlCol="0" anchor="t">
            <a:spAutoFit/>
          </a:bodyPr>
          <a:lstStyle/>
          <a:p>
            <a:pPr algn="ctr">
              <a:lnSpc>
                <a:spcPts val="2800"/>
              </a:lnSpc>
            </a:pPr>
            <a:r>
              <a:rPr lang="en-US" sz="2000">
                <a:solidFill>
                  <a:srgbClr val="545454"/>
                </a:solidFill>
                <a:latin typeface="Open Sauce Light"/>
              </a:rPr>
              <a:t>20002594</a:t>
            </a:r>
          </a:p>
        </p:txBody>
      </p:sp>
      <p:sp>
        <p:nvSpPr>
          <p:cNvPr id="9" name="TextBox 9"/>
          <p:cNvSpPr txBox="1"/>
          <p:nvPr/>
        </p:nvSpPr>
        <p:spPr>
          <a:xfrm>
            <a:off x="7175005" y="9003347"/>
            <a:ext cx="4321082" cy="405765"/>
          </a:xfrm>
          <a:prstGeom prst="rect">
            <a:avLst/>
          </a:prstGeom>
        </p:spPr>
        <p:txBody>
          <a:bodyPr lIns="0" tIns="0" rIns="0" bIns="0" rtlCol="0" anchor="t">
            <a:spAutoFit/>
          </a:bodyPr>
          <a:lstStyle/>
          <a:p>
            <a:pPr algn="ctr">
              <a:lnSpc>
                <a:spcPts val="3359"/>
              </a:lnSpc>
            </a:pPr>
            <a:r>
              <a:rPr lang="en-US" sz="2400">
                <a:solidFill>
                  <a:srgbClr val="545454"/>
                </a:solidFill>
                <a:latin typeface="League Spartan"/>
              </a:rPr>
              <a:t>Patricia La Madrid</a:t>
            </a:r>
          </a:p>
        </p:txBody>
      </p:sp>
      <p:sp>
        <p:nvSpPr>
          <p:cNvPr id="10" name="Freeform 10"/>
          <p:cNvSpPr/>
          <p:nvPr/>
        </p:nvSpPr>
        <p:spPr>
          <a:xfrm>
            <a:off x="7898126" y="7664054"/>
            <a:ext cx="3741694" cy="860590"/>
          </a:xfrm>
          <a:custGeom>
            <a:avLst/>
            <a:gdLst/>
            <a:ahLst/>
            <a:cxnLst/>
            <a:rect l="l" t="t" r="r" b="b"/>
            <a:pathLst>
              <a:path w="3741694" h="860590">
                <a:moveTo>
                  <a:pt x="0" y="0"/>
                </a:moveTo>
                <a:lnTo>
                  <a:pt x="3741694" y="0"/>
                </a:lnTo>
                <a:lnTo>
                  <a:pt x="3741694" y="860589"/>
                </a:lnTo>
                <a:lnTo>
                  <a:pt x="0" y="860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7464699" y="7733034"/>
            <a:ext cx="3741694" cy="646430"/>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Canva Sans Bold"/>
              </a:rPr>
              <a:t>WIDE AWAKE</a:t>
            </a:r>
          </a:p>
        </p:txBody>
      </p:sp>
      <p:sp>
        <p:nvSpPr>
          <p:cNvPr id="12" name="AutoShape 12"/>
          <p:cNvSpPr/>
          <p:nvPr/>
        </p:nvSpPr>
        <p:spPr>
          <a:xfrm>
            <a:off x="6639882" y="9832391"/>
            <a:ext cx="4999938" cy="9377782"/>
          </a:xfrm>
          <a:prstGeom prst="rect">
            <a:avLst/>
          </a:prstGeom>
          <a:solidFill>
            <a:srgbClr val="EFEFEF"/>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505943"/>
            <a:ext cx="16230600" cy="7375322"/>
            <a:chOff x="0" y="0"/>
            <a:chExt cx="4274726" cy="1942472"/>
          </a:xfrm>
        </p:grpSpPr>
        <p:sp>
          <p:nvSpPr>
            <p:cNvPr id="3" name="Freeform 3"/>
            <p:cNvSpPr/>
            <p:nvPr/>
          </p:nvSpPr>
          <p:spPr>
            <a:xfrm>
              <a:off x="0" y="0"/>
              <a:ext cx="4274726" cy="1942472"/>
            </a:xfrm>
            <a:custGeom>
              <a:avLst/>
              <a:gdLst/>
              <a:ahLst/>
              <a:cxnLst/>
              <a:rect l="l" t="t" r="r" b="b"/>
              <a:pathLst>
                <a:path w="4274726" h="1942472">
                  <a:moveTo>
                    <a:pt x="0" y="0"/>
                  </a:moveTo>
                  <a:lnTo>
                    <a:pt x="4274726" y="0"/>
                  </a:lnTo>
                  <a:lnTo>
                    <a:pt x="4274726" y="1942472"/>
                  </a:lnTo>
                  <a:lnTo>
                    <a:pt x="0" y="1942472"/>
                  </a:lnTo>
                  <a:close/>
                </a:path>
              </a:pathLst>
            </a:custGeom>
            <a:solidFill>
              <a:srgbClr val="EFEFEF"/>
            </a:solidFill>
            <a:ln w="38100">
              <a:solidFill>
                <a:srgbClr val="545454"/>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139012" y="687305"/>
            <a:ext cx="8009976" cy="1730229"/>
            <a:chOff x="0" y="0"/>
            <a:chExt cx="2109623" cy="455698"/>
          </a:xfrm>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a:solidFill>
                <a:srgbClr val="F1F2F2"/>
              </a:solid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543721" y="904875"/>
            <a:ext cx="9200557" cy="1125781"/>
          </a:xfrm>
          <a:prstGeom prst="rect">
            <a:avLst/>
          </a:prstGeom>
        </p:spPr>
        <p:txBody>
          <a:bodyPr lIns="0" tIns="0" rIns="0" bIns="0" rtlCol="0" anchor="t">
            <a:spAutoFit/>
          </a:bodyPr>
          <a:lstStyle/>
          <a:p>
            <a:pPr algn="ctr">
              <a:lnSpc>
                <a:spcPts val="9250"/>
              </a:lnSpc>
            </a:pPr>
            <a:r>
              <a:rPr lang="en-US" sz="6607">
                <a:solidFill>
                  <a:srgbClr val="000000"/>
                </a:solidFill>
                <a:latin typeface="Fredoka One Bold"/>
              </a:rPr>
              <a:t>DESIGN STATEMENT</a:t>
            </a:r>
          </a:p>
        </p:txBody>
      </p:sp>
      <p:sp>
        <p:nvSpPr>
          <p:cNvPr id="9" name="Freeform 9"/>
          <p:cNvSpPr/>
          <p:nvPr/>
        </p:nvSpPr>
        <p:spPr>
          <a:xfrm>
            <a:off x="-1109662" y="-911620"/>
            <a:ext cx="2942276" cy="294227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6281790" y="9040551"/>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246042" y="3341033"/>
            <a:ext cx="13795916" cy="4328795"/>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Canva Sans"/>
              </a:rPr>
              <a:t>To design a home fire prediction mobile app for the elderly using AI that notifies them and their carers  if the camera and sensor detects a smoke or fire in the elderly's house to prevent deaths or fire-related injuries. </a:t>
            </a:r>
          </a:p>
          <a:p>
            <a:pPr algn="ctr">
              <a:lnSpc>
                <a:spcPts val="2659"/>
              </a:lnSpc>
              <a:spcBef>
                <a:spcPct val="0"/>
              </a:spcBef>
            </a:pPr>
            <a:r>
              <a:rPr lang="en-US" sz="1899">
                <a:solidFill>
                  <a:srgbClr val="000000"/>
                </a:solidFill>
                <a:latin typeface="Canva Sans"/>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6610189" y="2116582"/>
            <a:ext cx="10906284" cy="6947815"/>
            <a:chOff x="0" y="0"/>
            <a:chExt cx="2872437" cy="1829877"/>
          </a:xfrm>
        </p:grpSpPr>
        <p:sp>
          <p:nvSpPr>
            <p:cNvPr id="3" name="Freeform 3"/>
            <p:cNvSpPr/>
            <p:nvPr/>
          </p:nvSpPr>
          <p:spPr>
            <a:xfrm>
              <a:off x="0" y="0"/>
              <a:ext cx="2872437" cy="1829877"/>
            </a:xfrm>
            <a:custGeom>
              <a:avLst/>
              <a:gdLst/>
              <a:ahLst/>
              <a:cxnLst/>
              <a:rect l="l" t="t" r="r" b="b"/>
              <a:pathLst>
                <a:path w="2872437" h="1829877">
                  <a:moveTo>
                    <a:pt x="0" y="0"/>
                  </a:moveTo>
                  <a:lnTo>
                    <a:pt x="2872437" y="0"/>
                  </a:lnTo>
                  <a:lnTo>
                    <a:pt x="2872437" y="1829877"/>
                  </a:lnTo>
                  <a:lnTo>
                    <a:pt x="0" y="1829877"/>
                  </a:lnTo>
                  <a:close/>
                </a:path>
              </a:pathLst>
            </a:custGeom>
            <a:solidFill>
              <a:srgbClr val="EFEFEF"/>
            </a:solidFill>
            <a:ln w="38100">
              <a:solidFill>
                <a:srgbClr val="545454"/>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779116"/>
            <a:ext cx="4323559" cy="8909153"/>
          </a:xfrm>
          <a:custGeom>
            <a:avLst/>
            <a:gdLst/>
            <a:ahLst/>
            <a:cxnLst/>
            <a:rect l="l" t="t" r="r" b="b"/>
            <a:pathLst>
              <a:path w="4323559" h="8909153">
                <a:moveTo>
                  <a:pt x="0" y="0"/>
                </a:moveTo>
                <a:lnTo>
                  <a:pt x="4323559" y="0"/>
                </a:lnTo>
                <a:lnTo>
                  <a:pt x="4323559" y="8909153"/>
                </a:lnTo>
                <a:lnTo>
                  <a:pt x="0" y="8909153"/>
                </a:lnTo>
                <a:lnTo>
                  <a:pt x="0" y="0"/>
                </a:lnTo>
                <a:close/>
              </a:path>
            </a:pathLst>
          </a:custGeom>
          <a:blipFill>
            <a:blip r:embed="rId2"/>
            <a:stretch>
              <a:fillRect/>
            </a:stretch>
          </a:blipFill>
        </p:spPr>
      </p:sp>
      <p:grpSp>
        <p:nvGrpSpPr>
          <p:cNvPr id="6" name="Group 6"/>
          <p:cNvGrpSpPr/>
          <p:nvPr/>
        </p:nvGrpSpPr>
        <p:grpSpPr>
          <a:xfrm>
            <a:off x="8809675" y="1465561"/>
            <a:ext cx="6330579" cy="1293034"/>
            <a:chOff x="0" y="0"/>
            <a:chExt cx="1667313" cy="340552"/>
          </a:xfrm>
        </p:grpSpPr>
        <p:sp>
          <p:nvSpPr>
            <p:cNvPr id="7" name="Freeform 7"/>
            <p:cNvSpPr/>
            <p:nvPr/>
          </p:nvSpPr>
          <p:spPr>
            <a:xfrm>
              <a:off x="0" y="0"/>
              <a:ext cx="1667313" cy="340552"/>
            </a:xfrm>
            <a:custGeom>
              <a:avLst/>
              <a:gdLst/>
              <a:ahLst/>
              <a:cxnLst/>
              <a:rect l="l" t="t" r="r" b="b"/>
              <a:pathLst>
                <a:path w="1667313" h="340552">
                  <a:moveTo>
                    <a:pt x="0" y="0"/>
                  </a:moveTo>
                  <a:lnTo>
                    <a:pt x="1667313" y="0"/>
                  </a:lnTo>
                  <a:lnTo>
                    <a:pt x="1667313" y="340552"/>
                  </a:lnTo>
                  <a:lnTo>
                    <a:pt x="0" y="340552"/>
                  </a:lnTo>
                  <a:close/>
                </a:path>
              </a:pathLst>
            </a:custGeom>
            <a:solidFill>
              <a:srgbClr val="DDDEDE"/>
            </a:solidFill>
            <a:ln w="38100">
              <a:solidFill>
                <a:srgbClr val="F1F2F2"/>
              </a:solidFill>
            </a:ln>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660626" y="1685879"/>
            <a:ext cx="8723773" cy="7095627"/>
            <a:chOff x="0" y="0"/>
            <a:chExt cx="11631698" cy="9460837"/>
          </a:xfrm>
        </p:grpSpPr>
        <p:sp>
          <p:nvSpPr>
            <p:cNvPr id="10" name="TextBox 10"/>
            <p:cNvSpPr txBox="1"/>
            <p:nvPr/>
          </p:nvSpPr>
          <p:spPr>
            <a:xfrm>
              <a:off x="0" y="2355253"/>
              <a:ext cx="11631698" cy="7105584"/>
            </a:xfrm>
            <a:prstGeom prst="rect">
              <a:avLst/>
            </a:prstGeom>
          </p:spPr>
          <p:txBody>
            <a:bodyPr lIns="0" tIns="0" rIns="0" bIns="0" rtlCol="0" anchor="t">
              <a:spAutoFit/>
            </a:bodyPr>
            <a:lstStyle/>
            <a:p>
              <a:pPr marL="669573" lvl="1" indent="-334786">
                <a:lnSpc>
                  <a:spcPts val="4651"/>
                </a:lnSpc>
                <a:buFont typeface="Arial"/>
                <a:buChar char="•"/>
              </a:pPr>
              <a:r>
                <a:rPr lang="en-US" sz="3101">
                  <a:solidFill>
                    <a:srgbClr val="000000"/>
                  </a:solidFill>
                  <a:latin typeface="DM Sans"/>
                </a:rPr>
                <a:t>Helps </a:t>
              </a:r>
              <a:r>
                <a:rPr lang="en-US" sz="3101">
                  <a:solidFill>
                    <a:srgbClr val="000000"/>
                  </a:solidFill>
                  <a:latin typeface="DM Sans Bold"/>
                </a:rPr>
                <a:t>senior citizens</a:t>
              </a:r>
              <a:r>
                <a:rPr lang="en-US" sz="3101">
                  <a:solidFill>
                    <a:srgbClr val="000000"/>
                  </a:solidFill>
                  <a:latin typeface="DM Sans"/>
                </a:rPr>
                <a:t> to be </a:t>
              </a:r>
              <a:r>
                <a:rPr lang="en-US" sz="3101">
                  <a:solidFill>
                    <a:srgbClr val="000000"/>
                  </a:solidFill>
                  <a:latin typeface="DM Sans Bold"/>
                </a:rPr>
                <a:t>FIRE-SAFE</a:t>
              </a:r>
              <a:r>
                <a:rPr lang="en-US" sz="3101">
                  <a:solidFill>
                    <a:srgbClr val="000000"/>
                  </a:solidFill>
                  <a:latin typeface="DM Sans"/>
                </a:rPr>
                <a:t> and </a:t>
              </a:r>
              <a:r>
                <a:rPr lang="en-US" sz="3101">
                  <a:solidFill>
                    <a:srgbClr val="000000"/>
                  </a:solidFill>
                  <a:latin typeface="DM Sans Bold"/>
                </a:rPr>
                <a:t>FIRE-READY</a:t>
              </a:r>
            </a:p>
            <a:p>
              <a:pPr>
                <a:lnSpc>
                  <a:spcPts val="4651"/>
                </a:lnSpc>
              </a:pPr>
              <a:endParaRPr lang="en-US" sz="3101">
                <a:solidFill>
                  <a:srgbClr val="000000"/>
                </a:solidFill>
                <a:latin typeface="DM Sans Bold"/>
              </a:endParaRPr>
            </a:p>
            <a:p>
              <a:pPr marL="669573" lvl="1" indent="-334786">
                <a:lnSpc>
                  <a:spcPts val="4651"/>
                </a:lnSpc>
                <a:buFont typeface="Arial"/>
                <a:buChar char="•"/>
              </a:pPr>
              <a:r>
                <a:rPr lang="en-US" sz="3101">
                  <a:solidFill>
                    <a:srgbClr val="000000"/>
                  </a:solidFill>
                  <a:latin typeface="DM Sans"/>
                </a:rPr>
                <a:t>Serves as a warning alert system</a:t>
              </a:r>
            </a:p>
            <a:p>
              <a:pPr>
                <a:lnSpc>
                  <a:spcPts val="4651"/>
                </a:lnSpc>
              </a:pPr>
              <a:endParaRPr lang="en-US" sz="3101">
                <a:solidFill>
                  <a:srgbClr val="000000"/>
                </a:solidFill>
                <a:latin typeface="DM Sans"/>
              </a:endParaRPr>
            </a:p>
            <a:p>
              <a:pPr marL="669573" lvl="1" indent="-334786">
                <a:lnSpc>
                  <a:spcPts val="4651"/>
                </a:lnSpc>
                <a:buFont typeface="Arial"/>
                <a:buChar char="•"/>
              </a:pPr>
              <a:r>
                <a:rPr lang="en-US" sz="3101">
                  <a:solidFill>
                    <a:srgbClr val="000000"/>
                  </a:solidFill>
                  <a:latin typeface="DM Sans"/>
                </a:rPr>
                <a:t>Prevents future fires</a:t>
              </a:r>
            </a:p>
            <a:p>
              <a:pPr>
                <a:lnSpc>
                  <a:spcPts val="4651"/>
                </a:lnSpc>
              </a:pPr>
              <a:endParaRPr lang="en-US" sz="3101">
                <a:solidFill>
                  <a:srgbClr val="000000"/>
                </a:solidFill>
                <a:latin typeface="DM Sans"/>
              </a:endParaRPr>
            </a:p>
            <a:p>
              <a:pPr marL="669573" lvl="1" indent="-334786">
                <a:lnSpc>
                  <a:spcPts val="4651"/>
                </a:lnSpc>
                <a:buFont typeface="Arial"/>
                <a:buChar char="•"/>
              </a:pPr>
              <a:r>
                <a:rPr lang="en-US" sz="3101">
                  <a:solidFill>
                    <a:srgbClr val="000000"/>
                  </a:solidFill>
                  <a:latin typeface="DM Sans"/>
                </a:rPr>
                <a:t>Available on Android and iOS</a:t>
              </a:r>
            </a:p>
            <a:p>
              <a:pPr>
                <a:lnSpc>
                  <a:spcPts val="4651"/>
                </a:lnSpc>
              </a:pPr>
              <a:endParaRPr lang="en-US" sz="3101">
                <a:solidFill>
                  <a:srgbClr val="000000"/>
                </a:solidFill>
                <a:latin typeface="DM Sans"/>
              </a:endParaRPr>
            </a:p>
          </p:txBody>
        </p:sp>
        <p:sp>
          <p:nvSpPr>
            <p:cNvPr id="11" name="TextBox 11"/>
            <p:cNvSpPr txBox="1"/>
            <p:nvPr/>
          </p:nvSpPr>
          <p:spPr>
            <a:xfrm>
              <a:off x="0" y="161925"/>
              <a:ext cx="11631698" cy="2226098"/>
            </a:xfrm>
            <a:prstGeom prst="rect">
              <a:avLst/>
            </a:prstGeom>
          </p:spPr>
          <p:txBody>
            <a:bodyPr lIns="0" tIns="0" rIns="0" bIns="0" rtlCol="0" anchor="t">
              <a:spAutoFit/>
            </a:bodyPr>
            <a:lstStyle/>
            <a:p>
              <a:pPr algn="ctr">
                <a:lnSpc>
                  <a:spcPts val="6279"/>
                </a:lnSpc>
              </a:pPr>
              <a:r>
                <a:rPr lang="en-US" sz="6609" spc="-330">
                  <a:solidFill>
                    <a:srgbClr val="000000"/>
                  </a:solidFill>
                  <a:latin typeface="Fredoka One"/>
                </a:rPr>
                <a:t>ABOUT THE APP</a:t>
              </a:r>
            </a:p>
            <a:p>
              <a:pPr algn="ctr">
                <a:lnSpc>
                  <a:spcPts val="6279"/>
                </a:lnSpc>
              </a:pPr>
              <a:endParaRPr lang="en-US" sz="6609" spc="-330">
                <a:solidFill>
                  <a:srgbClr val="000000"/>
                </a:solidFill>
                <a:latin typeface="Fredoka One"/>
              </a:endParaRPr>
            </a:p>
          </p:txBody>
        </p:sp>
      </p:grpSp>
      <p:sp>
        <p:nvSpPr>
          <p:cNvPr id="12" name="Freeform 12"/>
          <p:cNvSpPr/>
          <p:nvPr/>
        </p:nvSpPr>
        <p:spPr>
          <a:xfrm>
            <a:off x="16384399" y="9064397"/>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361476" y="1505943"/>
            <a:ext cx="17528299" cy="8573794"/>
            <a:chOff x="0" y="0"/>
            <a:chExt cx="4616507" cy="2258119"/>
          </a:xfrm>
        </p:grpSpPr>
        <p:sp>
          <p:nvSpPr>
            <p:cNvPr id="3" name="Freeform 3"/>
            <p:cNvSpPr/>
            <p:nvPr/>
          </p:nvSpPr>
          <p:spPr>
            <a:xfrm>
              <a:off x="0" y="0"/>
              <a:ext cx="4616507" cy="2258119"/>
            </a:xfrm>
            <a:custGeom>
              <a:avLst/>
              <a:gdLst/>
              <a:ahLst/>
              <a:cxnLst/>
              <a:rect l="l" t="t" r="r" b="b"/>
              <a:pathLst>
                <a:path w="4616507" h="2258119">
                  <a:moveTo>
                    <a:pt x="0" y="0"/>
                  </a:moveTo>
                  <a:lnTo>
                    <a:pt x="4616507" y="0"/>
                  </a:lnTo>
                  <a:lnTo>
                    <a:pt x="4616507" y="2258119"/>
                  </a:lnTo>
                  <a:lnTo>
                    <a:pt x="0" y="2258119"/>
                  </a:lnTo>
                  <a:close/>
                </a:path>
              </a:pathLst>
            </a:custGeom>
            <a:solidFill>
              <a:srgbClr val="EFEFEF"/>
            </a:solidFill>
            <a:ln w="38100">
              <a:solidFill>
                <a:srgbClr val="545454"/>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753252" y="687305"/>
            <a:ext cx="9218689" cy="1730229"/>
            <a:chOff x="0" y="0"/>
            <a:chExt cx="2427968" cy="455698"/>
          </a:xfrm>
        </p:grpSpPr>
        <p:sp>
          <p:nvSpPr>
            <p:cNvPr id="6" name="Freeform 6"/>
            <p:cNvSpPr/>
            <p:nvPr/>
          </p:nvSpPr>
          <p:spPr>
            <a:xfrm>
              <a:off x="0" y="0"/>
              <a:ext cx="2427968" cy="455698"/>
            </a:xfrm>
            <a:custGeom>
              <a:avLst/>
              <a:gdLst/>
              <a:ahLst/>
              <a:cxnLst/>
              <a:rect l="l" t="t" r="r" b="b"/>
              <a:pathLst>
                <a:path w="2427968" h="455698">
                  <a:moveTo>
                    <a:pt x="0" y="0"/>
                  </a:moveTo>
                  <a:lnTo>
                    <a:pt x="2427968" y="0"/>
                  </a:lnTo>
                  <a:lnTo>
                    <a:pt x="2427968" y="455698"/>
                  </a:lnTo>
                  <a:lnTo>
                    <a:pt x="0" y="455698"/>
                  </a:lnTo>
                  <a:close/>
                </a:path>
              </a:pathLst>
            </a:custGeom>
            <a:solidFill>
              <a:srgbClr val="DDDEDE"/>
            </a:solidFill>
            <a:ln w="38100">
              <a:solidFill>
                <a:srgbClr val="F1F2F2"/>
              </a:solid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543721" y="904875"/>
            <a:ext cx="9817773" cy="1127506"/>
          </a:xfrm>
          <a:prstGeom prst="rect">
            <a:avLst/>
          </a:prstGeom>
        </p:spPr>
        <p:txBody>
          <a:bodyPr lIns="0" tIns="0" rIns="0" bIns="0" rtlCol="0" anchor="t">
            <a:spAutoFit/>
          </a:bodyPr>
          <a:lstStyle/>
          <a:p>
            <a:pPr algn="ctr">
              <a:lnSpc>
                <a:spcPts val="9253"/>
              </a:lnSpc>
            </a:pPr>
            <a:r>
              <a:rPr lang="en-US" sz="6609">
                <a:solidFill>
                  <a:srgbClr val="000000"/>
                </a:solidFill>
                <a:latin typeface="Fredoka One Bold"/>
              </a:rPr>
              <a:t>FEATURES OF THE APP </a:t>
            </a:r>
          </a:p>
        </p:txBody>
      </p:sp>
      <p:sp>
        <p:nvSpPr>
          <p:cNvPr id="9" name="Freeform 9"/>
          <p:cNvSpPr/>
          <p:nvPr/>
        </p:nvSpPr>
        <p:spPr>
          <a:xfrm>
            <a:off x="16276206" y="8854365"/>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47902" y="3277723"/>
            <a:ext cx="1489508" cy="2263065"/>
          </a:xfrm>
          <a:custGeom>
            <a:avLst/>
            <a:gdLst/>
            <a:ahLst/>
            <a:cxnLst/>
            <a:rect l="l" t="t" r="r" b="b"/>
            <a:pathLst>
              <a:path w="1489508" h="2263065">
                <a:moveTo>
                  <a:pt x="0" y="0"/>
                </a:moveTo>
                <a:lnTo>
                  <a:pt x="1489508" y="0"/>
                </a:lnTo>
                <a:lnTo>
                  <a:pt x="1489508" y="2263064"/>
                </a:lnTo>
                <a:lnTo>
                  <a:pt x="0" y="22630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2482434" y="3277723"/>
            <a:ext cx="1489508" cy="2263065"/>
          </a:xfrm>
          <a:custGeom>
            <a:avLst/>
            <a:gdLst/>
            <a:ahLst/>
            <a:cxnLst/>
            <a:rect l="l" t="t" r="r" b="b"/>
            <a:pathLst>
              <a:path w="1489508" h="2263065">
                <a:moveTo>
                  <a:pt x="0" y="0"/>
                </a:moveTo>
                <a:lnTo>
                  <a:pt x="1489508" y="0"/>
                </a:lnTo>
                <a:lnTo>
                  <a:pt x="1489508" y="2263064"/>
                </a:lnTo>
                <a:lnTo>
                  <a:pt x="0" y="22630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9618674" y="3277723"/>
            <a:ext cx="1489508" cy="2263065"/>
          </a:xfrm>
          <a:custGeom>
            <a:avLst/>
            <a:gdLst/>
            <a:ahLst/>
            <a:cxnLst/>
            <a:rect l="l" t="t" r="r" b="b"/>
            <a:pathLst>
              <a:path w="1489508" h="2263065">
                <a:moveTo>
                  <a:pt x="0" y="0"/>
                </a:moveTo>
                <a:lnTo>
                  <a:pt x="1489509" y="0"/>
                </a:lnTo>
                <a:lnTo>
                  <a:pt x="1489509" y="2263064"/>
                </a:lnTo>
                <a:lnTo>
                  <a:pt x="0" y="22630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4120432" y="3277723"/>
            <a:ext cx="1489508" cy="2263065"/>
          </a:xfrm>
          <a:custGeom>
            <a:avLst/>
            <a:gdLst/>
            <a:ahLst/>
            <a:cxnLst/>
            <a:rect l="l" t="t" r="r" b="b"/>
            <a:pathLst>
              <a:path w="1489508" h="2263065">
                <a:moveTo>
                  <a:pt x="0" y="0"/>
                </a:moveTo>
                <a:lnTo>
                  <a:pt x="1489508" y="0"/>
                </a:lnTo>
                <a:lnTo>
                  <a:pt x="1489508" y="2263064"/>
                </a:lnTo>
                <a:lnTo>
                  <a:pt x="0" y="226306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a:off x="6792962" y="3277723"/>
            <a:ext cx="1489508" cy="2263065"/>
          </a:xfrm>
          <a:custGeom>
            <a:avLst/>
            <a:gdLst/>
            <a:ahLst/>
            <a:cxnLst/>
            <a:rect l="l" t="t" r="r" b="b"/>
            <a:pathLst>
              <a:path w="1489508" h="2263065">
                <a:moveTo>
                  <a:pt x="0" y="0"/>
                </a:moveTo>
                <a:lnTo>
                  <a:pt x="1489508" y="0"/>
                </a:lnTo>
                <a:lnTo>
                  <a:pt x="1489508" y="2263064"/>
                </a:lnTo>
                <a:lnTo>
                  <a:pt x="0" y="226306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p:cNvSpPr/>
          <p:nvPr/>
        </p:nvSpPr>
        <p:spPr>
          <a:xfrm>
            <a:off x="15280911" y="3277723"/>
            <a:ext cx="1489508" cy="2263065"/>
          </a:xfrm>
          <a:custGeom>
            <a:avLst/>
            <a:gdLst/>
            <a:ahLst/>
            <a:cxnLst/>
            <a:rect l="l" t="t" r="r" b="b"/>
            <a:pathLst>
              <a:path w="1489508" h="2263065">
                <a:moveTo>
                  <a:pt x="0" y="0"/>
                </a:moveTo>
                <a:lnTo>
                  <a:pt x="1489508" y="0"/>
                </a:lnTo>
                <a:lnTo>
                  <a:pt x="1489508" y="2263064"/>
                </a:lnTo>
                <a:lnTo>
                  <a:pt x="0" y="226306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6" name="TextBox 16"/>
          <p:cNvSpPr txBox="1"/>
          <p:nvPr/>
        </p:nvSpPr>
        <p:spPr>
          <a:xfrm>
            <a:off x="1178883"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01</a:t>
            </a:r>
          </a:p>
        </p:txBody>
      </p:sp>
      <p:sp>
        <p:nvSpPr>
          <p:cNvPr id="17" name="TextBox 17"/>
          <p:cNvSpPr txBox="1"/>
          <p:nvPr/>
        </p:nvSpPr>
        <p:spPr>
          <a:xfrm>
            <a:off x="3851413"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02</a:t>
            </a:r>
          </a:p>
        </p:txBody>
      </p:sp>
      <p:sp>
        <p:nvSpPr>
          <p:cNvPr id="18" name="TextBox 18"/>
          <p:cNvSpPr txBox="1"/>
          <p:nvPr/>
        </p:nvSpPr>
        <p:spPr>
          <a:xfrm>
            <a:off x="6523944"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03</a:t>
            </a:r>
          </a:p>
        </p:txBody>
      </p:sp>
      <p:sp>
        <p:nvSpPr>
          <p:cNvPr id="19" name="TextBox 19"/>
          <p:cNvSpPr txBox="1"/>
          <p:nvPr/>
        </p:nvSpPr>
        <p:spPr>
          <a:xfrm>
            <a:off x="9362597"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04</a:t>
            </a:r>
          </a:p>
        </p:txBody>
      </p:sp>
      <p:sp>
        <p:nvSpPr>
          <p:cNvPr id="20" name="TextBox 20"/>
          <p:cNvSpPr txBox="1"/>
          <p:nvPr/>
        </p:nvSpPr>
        <p:spPr>
          <a:xfrm>
            <a:off x="12213415"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05</a:t>
            </a:r>
          </a:p>
        </p:txBody>
      </p:sp>
      <p:sp>
        <p:nvSpPr>
          <p:cNvPr id="21" name="TextBox 21"/>
          <p:cNvSpPr txBox="1"/>
          <p:nvPr/>
        </p:nvSpPr>
        <p:spPr>
          <a:xfrm>
            <a:off x="15011892" y="3470760"/>
            <a:ext cx="2027545" cy="1115492"/>
          </a:xfrm>
          <a:prstGeom prst="rect">
            <a:avLst/>
          </a:prstGeom>
        </p:spPr>
        <p:txBody>
          <a:bodyPr lIns="0" tIns="0" rIns="0" bIns="0" rtlCol="0" anchor="t">
            <a:spAutoFit/>
          </a:bodyPr>
          <a:lstStyle/>
          <a:p>
            <a:pPr algn="ctr">
              <a:lnSpc>
                <a:spcPts val="9135"/>
              </a:lnSpc>
            </a:pPr>
            <a:r>
              <a:rPr lang="en-US" sz="6620" spc="648">
                <a:solidFill>
                  <a:srgbClr val="FFFBFB"/>
                </a:solidFill>
                <a:latin typeface="DM Sans Bold"/>
              </a:rPr>
              <a:t>06</a:t>
            </a:r>
          </a:p>
        </p:txBody>
      </p:sp>
      <p:sp>
        <p:nvSpPr>
          <p:cNvPr id="22" name="AutoShape 22"/>
          <p:cNvSpPr/>
          <p:nvPr/>
        </p:nvSpPr>
        <p:spPr>
          <a:xfrm>
            <a:off x="1589541" y="5926995"/>
            <a:ext cx="15108918" cy="0"/>
          </a:xfrm>
          <a:prstGeom prst="line">
            <a:avLst/>
          </a:prstGeom>
          <a:ln w="38100" cap="flat">
            <a:solidFill>
              <a:srgbClr val="545454"/>
            </a:solidFill>
            <a:prstDash val="solid"/>
            <a:headEnd type="none" w="sm" len="sm"/>
            <a:tailEnd type="none" w="sm" len="sm"/>
          </a:ln>
        </p:spPr>
      </p:sp>
      <p:grpSp>
        <p:nvGrpSpPr>
          <p:cNvPr id="23" name="Group 23"/>
          <p:cNvGrpSpPr/>
          <p:nvPr/>
        </p:nvGrpSpPr>
        <p:grpSpPr>
          <a:xfrm>
            <a:off x="1942115" y="5695504"/>
            <a:ext cx="501082" cy="501082"/>
            <a:chOff x="0" y="0"/>
            <a:chExt cx="812800" cy="812800"/>
          </a:xfrm>
        </p:grpSpPr>
        <p:sp>
          <p:nvSpPr>
            <p:cNvPr id="24" name="Freeform 24"/>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3131"/>
            </a:solidFill>
          </p:spPr>
        </p:sp>
        <p:sp>
          <p:nvSpPr>
            <p:cNvPr id="25" name="TextBox 25"/>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26" name="Group 26"/>
          <p:cNvGrpSpPr/>
          <p:nvPr/>
        </p:nvGrpSpPr>
        <p:grpSpPr>
          <a:xfrm>
            <a:off x="4629198" y="5695504"/>
            <a:ext cx="501082" cy="501082"/>
            <a:chOff x="0" y="0"/>
            <a:chExt cx="812800" cy="812800"/>
          </a:xfrm>
        </p:grpSpPr>
        <p:sp>
          <p:nvSpPr>
            <p:cNvPr id="27" name="Freeform 27"/>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14D"/>
            </a:solidFill>
          </p:spPr>
        </p:sp>
        <p:sp>
          <p:nvSpPr>
            <p:cNvPr id="28" name="TextBox 28"/>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29" name="Group 29"/>
          <p:cNvGrpSpPr/>
          <p:nvPr/>
        </p:nvGrpSpPr>
        <p:grpSpPr>
          <a:xfrm>
            <a:off x="7316281" y="5676454"/>
            <a:ext cx="501082" cy="501082"/>
            <a:chOff x="0" y="0"/>
            <a:chExt cx="812800" cy="812800"/>
          </a:xfrm>
        </p:grpSpPr>
        <p:sp>
          <p:nvSpPr>
            <p:cNvPr id="30" name="Freeform 30"/>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0BF63"/>
            </a:solidFill>
          </p:spPr>
        </p:sp>
        <p:sp>
          <p:nvSpPr>
            <p:cNvPr id="31" name="TextBox 31"/>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32" name="Group 32"/>
          <p:cNvGrpSpPr/>
          <p:nvPr/>
        </p:nvGrpSpPr>
        <p:grpSpPr>
          <a:xfrm>
            <a:off x="10112888" y="5695504"/>
            <a:ext cx="501082" cy="501082"/>
            <a:chOff x="0" y="0"/>
            <a:chExt cx="812800" cy="812800"/>
          </a:xfrm>
        </p:grpSpPr>
        <p:sp>
          <p:nvSpPr>
            <p:cNvPr id="33" name="Freeform 3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04AAD"/>
            </a:solidFill>
          </p:spPr>
        </p:sp>
        <p:sp>
          <p:nvSpPr>
            <p:cNvPr id="34" name="TextBox 3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35" name="Group 35"/>
          <p:cNvGrpSpPr/>
          <p:nvPr/>
        </p:nvGrpSpPr>
        <p:grpSpPr>
          <a:xfrm>
            <a:off x="12976647" y="5643517"/>
            <a:ext cx="501082" cy="501082"/>
            <a:chOff x="0" y="0"/>
            <a:chExt cx="812800" cy="812800"/>
          </a:xfrm>
        </p:grpSpPr>
        <p:sp>
          <p:nvSpPr>
            <p:cNvPr id="36" name="Freeform 3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271FF"/>
            </a:solidFill>
          </p:spPr>
        </p:sp>
        <p:sp>
          <p:nvSpPr>
            <p:cNvPr id="37" name="TextBox 3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38" name="Group 38"/>
          <p:cNvGrpSpPr/>
          <p:nvPr/>
        </p:nvGrpSpPr>
        <p:grpSpPr>
          <a:xfrm>
            <a:off x="15775124" y="5643517"/>
            <a:ext cx="501082" cy="501082"/>
            <a:chOff x="0" y="0"/>
            <a:chExt cx="812800" cy="812800"/>
          </a:xfrm>
        </p:grpSpPr>
        <p:sp>
          <p:nvSpPr>
            <p:cNvPr id="39" name="Freeform 3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8C52FF"/>
            </a:solidFill>
          </p:spPr>
        </p:sp>
        <p:sp>
          <p:nvSpPr>
            <p:cNvPr id="40" name="TextBox 40"/>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41" name="TextBox 41"/>
          <p:cNvSpPr txBox="1"/>
          <p:nvPr/>
        </p:nvSpPr>
        <p:spPr>
          <a:xfrm>
            <a:off x="1313392" y="6320411"/>
            <a:ext cx="1758527" cy="3583381"/>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FF3131"/>
                </a:solidFill>
                <a:latin typeface="DM Sans Bold"/>
              </a:rPr>
              <a:t>FIRE AND SMOKE DETECTION</a:t>
            </a:r>
          </a:p>
          <a:p>
            <a:pPr algn="ctr">
              <a:lnSpc>
                <a:spcPts val="2180"/>
              </a:lnSpc>
            </a:pPr>
            <a:r>
              <a:rPr lang="en-US" sz="1580" spc="154">
                <a:solidFill>
                  <a:srgbClr val="FF3131"/>
                </a:solidFill>
                <a:latin typeface="DM Sans Bold"/>
              </a:rPr>
              <a:t>BASEDON VIDEO-CAMERA USING YOLOV2 MODEL WITH CONVOLUTION NEUTRAL NETWORK </a:t>
            </a:r>
          </a:p>
          <a:p>
            <a:pPr algn="ctr">
              <a:lnSpc>
                <a:spcPts val="2180"/>
              </a:lnSpc>
            </a:pPr>
            <a:endParaRPr lang="en-US" sz="1580" spc="154">
              <a:solidFill>
                <a:srgbClr val="FF3131"/>
              </a:solidFill>
              <a:latin typeface="DM Sans Bold"/>
            </a:endParaRPr>
          </a:p>
        </p:txBody>
      </p:sp>
      <p:sp>
        <p:nvSpPr>
          <p:cNvPr id="42" name="TextBox 42"/>
          <p:cNvSpPr txBox="1"/>
          <p:nvPr/>
        </p:nvSpPr>
        <p:spPr>
          <a:xfrm>
            <a:off x="3934371" y="6320411"/>
            <a:ext cx="1675569" cy="1926031"/>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FF914D"/>
                </a:solidFill>
                <a:latin typeface="DM Sans Bold"/>
              </a:rPr>
              <a:t>VOICE COMMAND AND SOUND ALARM FEATURE</a:t>
            </a:r>
          </a:p>
          <a:p>
            <a:pPr algn="ctr">
              <a:lnSpc>
                <a:spcPts val="2180"/>
              </a:lnSpc>
            </a:pPr>
            <a:endParaRPr lang="en-US" sz="1580" spc="154">
              <a:solidFill>
                <a:srgbClr val="FF914D"/>
              </a:solidFill>
              <a:latin typeface="DM Sans Bold"/>
            </a:endParaRPr>
          </a:p>
        </p:txBody>
      </p:sp>
      <p:sp>
        <p:nvSpPr>
          <p:cNvPr id="43" name="TextBox 43"/>
          <p:cNvSpPr txBox="1"/>
          <p:nvPr/>
        </p:nvSpPr>
        <p:spPr>
          <a:xfrm>
            <a:off x="6729037" y="6340852"/>
            <a:ext cx="1675569" cy="1373581"/>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00BF63"/>
                </a:solidFill>
                <a:latin typeface="DM Sans Bold"/>
              </a:rPr>
              <a:t>AUDIO DETECTION FEATURE</a:t>
            </a:r>
          </a:p>
          <a:p>
            <a:pPr algn="ctr">
              <a:lnSpc>
                <a:spcPts val="2180"/>
              </a:lnSpc>
            </a:pPr>
            <a:endParaRPr lang="en-US" sz="1580" spc="154">
              <a:solidFill>
                <a:srgbClr val="00BF63"/>
              </a:solidFill>
              <a:latin typeface="DM Sans Bold"/>
            </a:endParaRPr>
          </a:p>
        </p:txBody>
      </p:sp>
      <p:sp>
        <p:nvSpPr>
          <p:cNvPr id="44" name="TextBox 44"/>
          <p:cNvSpPr txBox="1"/>
          <p:nvPr/>
        </p:nvSpPr>
        <p:spPr>
          <a:xfrm>
            <a:off x="9452608" y="6320411"/>
            <a:ext cx="1675569" cy="1649806"/>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004AAD"/>
                </a:solidFill>
                <a:latin typeface="DM Sans Bold"/>
              </a:rPr>
              <a:t>GLOBAL POSITIONING STATEMENT (GPS) TRACKER</a:t>
            </a:r>
          </a:p>
        </p:txBody>
      </p:sp>
      <p:sp>
        <p:nvSpPr>
          <p:cNvPr id="45" name="TextBox 45"/>
          <p:cNvSpPr txBox="1"/>
          <p:nvPr/>
        </p:nvSpPr>
        <p:spPr>
          <a:xfrm>
            <a:off x="12296373" y="6340852"/>
            <a:ext cx="1675569" cy="821131"/>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5271FF"/>
                </a:solidFill>
                <a:latin typeface="DM Sans Bold"/>
              </a:rPr>
              <a:t>MESSAGING FEATURE</a:t>
            </a:r>
          </a:p>
        </p:txBody>
      </p:sp>
      <p:sp>
        <p:nvSpPr>
          <p:cNvPr id="46" name="TextBox 46"/>
          <p:cNvSpPr txBox="1"/>
          <p:nvPr/>
        </p:nvSpPr>
        <p:spPr>
          <a:xfrm>
            <a:off x="15143517" y="6340852"/>
            <a:ext cx="1675569" cy="1649806"/>
          </a:xfrm>
          <a:prstGeom prst="rect">
            <a:avLst/>
          </a:prstGeom>
        </p:spPr>
        <p:txBody>
          <a:bodyPr lIns="0" tIns="0" rIns="0" bIns="0" rtlCol="0" anchor="t">
            <a:spAutoFit/>
          </a:bodyPr>
          <a:lstStyle/>
          <a:p>
            <a:pPr algn="ctr">
              <a:lnSpc>
                <a:spcPts val="2180"/>
              </a:lnSpc>
            </a:pPr>
            <a:endParaRPr/>
          </a:p>
          <a:p>
            <a:pPr algn="ctr">
              <a:lnSpc>
                <a:spcPts val="2180"/>
              </a:lnSpc>
            </a:pPr>
            <a:r>
              <a:rPr lang="en-US" sz="1580" spc="154">
                <a:solidFill>
                  <a:srgbClr val="5E17EB"/>
                </a:solidFill>
                <a:latin typeface="DM Sans Bold"/>
              </a:rPr>
              <a:t>FIRE RISK ASSESSMENT AND PREVENTION TIPS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5794" y="2596693"/>
            <a:ext cx="4081693" cy="7284310"/>
            <a:chOff x="0" y="0"/>
            <a:chExt cx="1075014" cy="1918501"/>
          </a:xfrm>
        </p:grpSpPr>
        <p:sp>
          <p:nvSpPr>
            <p:cNvPr id="3" name="Freeform 3"/>
            <p:cNvSpPr/>
            <p:nvPr/>
          </p:nvSpPr>
          <p:spPr>
            <a:xfrm>
              <a:off x="0" y="0"/>
              <a:ext cx="1075014" cy="1918502"/>
            </a:xfrm>
            <a:custGeom>
              <a:avLst/>
              <a:gdLst/>
              <a:ahLst/>
              <a:cxnLst/>
              <a:rect l="l" t="t" r="r" b="b"/>
              <a:pathLst>
                <a:path w="1075014" h="1918502">
                  <a:moveTo>
                    <a:pt x="0" y="0"/>
                  </a:moveTo>
                  <a:lnTo>
                    <a:pt x="1075014" y="0"/>
                  </a:lnTo>
                  <a:lnTo>
                    <a:pt x="1075014" y="1918502"/>
                  </a:lnTo>
                  <a:lnTo>
                    <a:pt x="0" y="1918502"/>
                  </a:lnTo>
                  <a:close/>
                </a:path>
              </a:pathLst>
            </a:custGeom>
            <a:solidFill>
              <a:srgbClr val="EFEFEF"/>
            </a:solidFill>
            <a:ln w="38100">
              <a:solidFill>
                <a:srgbClr val="545454"/>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849212" y="300428"/>
            <a:ext cx="14982831" cy="1730229"/>
            <a:chOff x="0" y="0"/>
            <a:chExt cx="3946095" cy="455698"/>
          </a:xfrm>
        </p:grpSpPr>
        <p:sp>
          <p:nvSpPr>
            <p:cNvPr id="6" name="Freeform 6"/>
            <p:cNvSpPr/>
            <p:nvPr/>
          </p:nvSpPr>
          <p:spPr>
            <a:xfrm>
              <a:off x="0" y="0"/>
              <a:ext cx="3946095" cy="455698"/>
            </a:xfrm>
            <a:custGeom>
              <a:avLst/>
              <a:gdLst/>
              <a:ahLst/>
              <a:cxnLst/>
              <a:rect l="l" t="t" r="r" b="b"/>
              <a:pathLst>
                <a:path w="3946095" h="455698">
                  <a:moveTo>
                    <a:pt x="0" y="0"/>
                  </a:moveTo>
                  <a:lnTo>
                    <a:pt x="3946095" y="0"/>
                  </a:lnTo>
                  <a:lnTo>
                    <a:pt x="3946095" y="455698"/>
                  </a:lnTo>
                  <a:lnTo>
                    <a:pt x="0" y="455698"/>
                  </a:lnTo>
                  <a:close/>
                </a:path>
              </a:pathLst>
            </a:custGeom>
            <a:solidFill>
              <a:srgbClr val="DDDEDE"/>
            </a:solidFill>
            <a:ln w="38100">
              <a:solidFill>
                <a:srgbClr val="F1F2F2"/>
              </a:solidFill>
            </a:ln>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088109" y="1709287"/>
            <a:ext cx="859614" cy="1291769"/>
          </a:xfrm>
          <a:custGeom>
            <a:avLst/>
            <a:gdLst/>
            <a:ahLst/>
            <a:cxnLst/>
            <a:rect l="l" t="t" r="r" b="b"/>
            <a:pathLst>
              <a:path w="859614" h="1291769">
                <a:moveTo>
                  <a:pt x="0" y="0"/>
                </a:moveTo>
                <a:lnTo>
                  <a:pt x="859614" y="0"/>
                </a:lnTo>
                <a:lnTo>
                  <a:pt x="859614" y="1291769"/>
                </a:lnTo>
                <a:lnTo>
                  <a:pt x="0" y="12917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517916" y="460891"/>
            <a:ext cx="13252168" cy="1127571"/>
          </a:xfrm>
          <a:prstGeom prst="rect">
            <a:avLst/>
          </a:prstGeom>
        </p:spPr>
        <p:txBody>
          <a:bodyPr lIns="0" tIns="0" rIns="0" bIns="0" rtlCol="0" anchor="t">
            <a:spAutoFit/>
          </a:bodyPr>
          <a:lstStyle/>
          <a:p>
            <a:pPr algn="ctr">
              <a:lnSpc>
                <a:spcPts val="9250"/>
              </a:lnSpc>
            </a:pPr>
            <a:r>
              <a:rPr lang="en-US" sz="6607">
                <a:solidFill>
                  <a:srgbClr val="000000"/>
                </a:solidFill>
                <a:latin typeface="Fredoka One Bold"/>
              </a:rPr>
              <a:t>DESIGN RATIONALE</a:t>
            </a:r>
          </a:p>
        </p:txBody>
      </p:sp>
      <p:sp>
        <p:nvSpPr>
          <p:cNvPr id="10" name="TextBox 10"/>
          <p:cNvSpPr txBox="1"/>
          <p:nvPr/>
        </p:nvSpPr>
        <p:spPr>
          <a:xfrm>
            <a:off x="781526" y="4402156"/>
            <a:ext cx="3650228" cy="5358130"/>
          </a:xfrm>
          <a:prstGeom prst="rect">
            <a:avLst/>
          </a:prstGeom>
        </p:spPr>
        <p:txBody>
          <a:bodyPr lIns="0" tIns="0" rIns="0" bIns="0" rtlCol="0" anchor="t">
            <a:spAutoFit/>
          </a:bodyPr>
          <a:lstStyle/>
          <a:p>
            <a:pPr marL="410209" lvl="1" indent="-205105">
              <a:lnSpc>
                <a:spcPts val="2659"/>
              </a:lnSpc>
              <a:buFont typeface="Arial"/>
              <a:buChar char="•"/>
            </a:pPr>
            <a:r>
              <a:rPr lang="en-US" sz="1899">
                <a:solidFill>
                  <a:srgbClr val="004AAD"/>
                </a:solidFill>
                <a:latin typeface="Canva Sans Bold"/>
              </a:rPr>
              <a:t>SIMPLE USER INTERFACE</a:t>
            </a:r>
          </a:p>
          <a:p>
            <a:pPr marL="410209" lvl="1" indent="-205105">
              <a:lnSpc>
                <a:spcPts val="2659"/>
              </a:lnSpc>
              <a:buFont typeface="Arial"/>
              <a:buChar char="•"/>
            </a:pPr>
            <a:r>
              <a:rPr lang="en-US" sz="1899">
                <a:solidFill>
                  <a:srgbClr val="004AAD"/>
                </a:solidFill>
                <a:latin typeface="Canva Sans Bold"/>
              </a:rPr>
              <a:t>EASY RECALL</a:t>
            </a:r>
          </a:p>
          <a:p>
            <a:pPr marL="410209" lvl="1" indent="-205105">
              <a:lnSpc>
                <a:spcPts val="2659"/>
              </a:lnSpc>
              <a:buFont typeface="Arial"/>
              <a:buChar char="•"/>
            </a:pPr>
            <a:r>
              <a:rPr lang="en-US" sz="1899">
                <a:solidFill>
                  <a:srgbClr val="004AAD"/>
                </a:solidFill>
                <a:latin typeface="Canva Sans Bold"/>
              </a:rPr>
              <a:t>EASY TO UNDERSTAND</a:t>
            </a:r>
          </a:p>
          <a:p>
            <a:pPr marL="410209" lvl="1" indent="-205105">
              <a:lnSpc>
                <a:spcPts val="2659"/>
              </a:lnSpc>
              <a:buFont typeface="Arial"/>
              <a:buChar char="•"/>
            </a:pPr>
            <a:r>
              <a:rPr lang="en-US" sz="1899">
                <a:solidFill>
                  <a:srgbClr val="004AAD"/>
                </a:solidFill>
                <a:latin typeface="Canva Sans Bold"/>
              </a:rPr>
              <a:t>COMMANDS USED ARE NOT COMPLEX</a:t>
            </a:r>
          </a:p>
          <a:p>
            <a:pPr marL="410209" lvl="1" indent="-205105">
              <a:lnSpc>
                <a:spcPts val="2659"/>
              </a:lnSpc>
              <a:buFont typeface="Arial"/>
              <a:buChar char="•"/>
            </a:pPr>
            <a:r>
              <a:rPr lang="en-US" sz="1899">
                <a:solidFill>
                  <a:srgbClr val="004AAD"/>
                </a:solidFill>
                <a:latin typeface="Canva Sans Bold"/>
              </a:rPr>
              <a:t>FAMILIAR PICTORIAL ICONS</a:t>
            </a:r>
          </a:p>
          <a:p>
            <a:pPr marL="410209" lvl="1" indent="-205105">
              <a:lnSpc>
                <a:spcPts val="2659"/>
              </a:lnSpc>
              <a:buFont typeface="Arial"/>
              <a:buChar char="•"/>
            </a:pPr>
            <a:r>
              <a:rPr lang="en-US" sz="1899">
                <a:solidFill>
                  <a:srgbClr val="004AAD"/>
                </a:solidFill>
                <a:latin typeface="Canva Sans Bold"/>
              </a:rPr>
              <a:t>MENU ICON WITH LABELS</a:t>
            </a:r>
          </a:p>
          <a:p>
            <a:pPr marL="410209" lvl="1" indent="-205105">
              <a:lnSpc>
                <a:spcPts val="2659"/>
              </a:lnSpc>
              <a:buFont typeface="Arial"/>
              <a:buChar char="•"/>
            </a:pPr>
            <a:r>
              <a:rPr lang="en-US" sz="1899">
                <a:solidFill>
                  <a:srgbClr val="004AAD"/>
                </a:solidFill>
                <a:latin typeface="Canva Sans Bold"/>
              </a:rPr>
              <a:t>BLACK TEXT BUT COLORED TEXT AND GRAPHICS TO HIGHLIGHT IMPORTANT INFORMATION</a:t>
            </a:r>
          </a:p>
          <a:p>
            <a:pPr marL="410209" lvl="1" indent="-205105">
              <a:lnSpc>
                <a:spcPts val="2659"/>
              </a:lnSpc>
              <a:buFont typeface="Arial"/>
              <a:buChar char="•"/>
            </a:pPr>
            <a:r>
              <a:rPr lang="en-US" sz="1899">
                <a:solidFill>
                  <a:srgbClr val="004AAD"/>
                </a:solidFill>
                <a:latin typeface="Canva Sans Bold"/>
              </a:rPr>
              <a:t>BIGGER FONT SIZE</a:t>
            </a:r>
          </a:p>
          <a:p>
            <a:pPr marL="410209" lvl="1" indent="-205105">
              <a:lnSpc>
                <a:spcPts val="2659"/>
              </a:lnSpc>
              <a:buFont typeface="Arial"/>
              <a:buChar char="•"/>
            </a:pPr>
            <a:r>
              <a:rPr lang="en-US" sz="1899">
                <a:solidFill>
                  <a:srgbClr val="004AAD"/>
                </a:solidFill>
                <a:latin typeface="Canva Sans Bold"/>
              </a:rPr>
              <a:t>SOFT COLORS</a:t>
            </a:r>
          </a:p>
          <a:p>
            <a:pPr marL="410209" lvl="1" indent="-205105" algn="l">
              <a:lnSpc>
                <a:spcPts val="2659"/>
              </a:lnSpc>
              <a:buFont typeface="Arial"/>
              <a:buChar char="•"/>
            </a:pPr>
            <a:r>
              <a:rPr lang="en-US" sz="1899">
                <a:solidFill>
                  <a:srgbClr val="004AAD"/>
                </a:solidFill>
                <a:latin typeface="Canva Sans Bold"/>
              </a:rPr>
              <a:t>LARGE GRAPHICS, BUTTONS, AND ICONS</a:t>
            </a:r>
          </a:p>
        </p:txBody>
      </p:sp>
      <p:sp>
        <p:nvSpPr>
          <p:cNvPr id="11" name="TextBox 11"/>
          <p:cNvSpPr txBox="1"/>
          <p:nvPr/>
        </p:nvSpPr>
        <p:spPr>
          <a:xfrm>
            <a:off x="914273" y="3321327"/>
            <a:ext cx="3384735" cy="721995"/>
          </a:xfrm>
          <a:prstGeom prst="rect">
            <a:avLst/>
          </a:prstGeom>
        </p:spPr>
        <p:txBody>
          <a:bodyPr lIns="0" tIns="0" rIns="0" bIns="0" rtlCol="0" anchor="t">
            <a:spAutoFit/>
          </a:bodyPr>
          <a:lstStyle/>
          <a:p>
            <a:pPr algn="ctr">
              <a:lnSpc>
                <a:spcPts val="5880"/>
              </a:lnSpc>
            </a:pPr>
            <a:r>
              <a:rPr lang="en-US" sz="4200">
                <a:solidFill>
                  <a:srgbClr val="004AAD"/>
                </a:solidFill>
                <a:latin typeface="Fredoka One"/>
              </a:rPr>
              <a:t>SIMPLICITY</a:t>
            </a:r>
          </a:p>
        </p:txBody>
      </p:sp>
      <p:grpSp>
        <p:nvGrpSpPr>
          <p:cNvPr id="12" name="Group 12"/>
          <p:cNvGrpSpPr/>
          <p:nvPr/>
        </p:nvGrpSpPr>
        <p:grpSpPr>
          <a:xfrm>
            <a:off x="13612820" y="2595839"/>
            <a:ext cx="4081693" cy="7285164"/>
            <a:chOff x="0" y="0"/>
            <a:chExt cx="1075014" cy="1918726"/>
          </a:xfrm>
        </p:grpSpPr>
        <p:sp>
          <p:nvSpPr>
            <p:cNvPr id="13" name="Freeform 13"/>
            <p:cNvSpPr/>
            <p:nvPr/>
          </p:nvSpPr>
          <p:spPr>
            <a:xfrm>
              <a:off x="0" y="0"/>
              <a:ext cx="1075014" cy="1918726"/>
            </a:xfrm>
            <a:custGeom>
              <a:avLst/>
              <a:gdLst/>
              <a:ahLst/>
              <a:cxnLst/>
              <a:rect l="l" t="t" r="r" b="b"/>
              <a:pathLst>
                <a:path w="1075014" h="1918726">
                  <a:moveTo>
                    <a:pt x="0" y="0"/>
                  </a:moveTo>
                  <a:lnTo>
                    <a:pt x="1075014" y="0"/>
                  </a:lnTo>
                  <a:lnTo>
                    <a:pt x="1075014" y="1918726"/>
                  </a:lnTo>
                  <a:lnTo>
                    <a:pt x="0" y="1918726"/>
                  </a:lnTo>
                  <a:close/>
                </a:path>
              </a:pathLst>
            </a:custGeom>
            <a:solidFill>
              <a:srgbClr val="EFEFEF"/>
            </a:solidFill>
            <a:ln w="38100">
              <a:solidFill>
                <a:srgbClr val="545454"/>
              </a:solidFill>
            </a:ln>
          </p:spPr>
        </p:sp>
        <p:sp>
          <p:nvSpPr>
            <p:cNvPr id="14" name="TextBox 14"/>
            <p:cNvSpPr txBox="1"/>
            <p:nvPr/>
          </p:nvSpPr>
          <p:spPr>
            <a:xfrm>
              <a:off x="0" y="-38100"/>
              <a:ext cx="812800" cy="850900"/>
            </a:xfrm>
            <a:prstGeom prst="rect">
              <a:avLst/>
            </a:prstGeom>
          </p:spPr>
          <p:txBody>
            <a:bodyPr lIns="50800" tIns="50800" rIns="50800" bIns="50800" rtlCol="0" anchor="ctr"/>
            <a:lstStyle/>
            <a:p>
              <a:pPr algn="ctr">
                <a:lnSpc>
                  <a:spcPts val="2659"/>
                </a:lnSpc>
              </a:pPr>
              <a:r>
                <a:rPr lang="en-US" sz="1899">
                  <a:solidFill>
                    <a:srgbClr val="FFFFFF"/>
                  </a:solidFill>
                  <a:latin typeface="Canva Sans"/>
                </a:rPr>
                <a:t>SIMPLICITY</a:t>
              </a:r>
            </a:p>
            <a:p>
              <a:pPr algn="ctr">
                <a:lnSpc>
                  <a:spcPts val="2659"/>
                </a:lnSpc>
                <a:spcBef>
                  <a:spcPct val="0"/>
                </a:spcBef>
              </a:pPr>
              <a:endParaRPr lang="en-US" sz="1899">
                <a:solidFill>
                  <a:srgbClr val="FFFFFF"/>
                </a:solidFill>
                <a:latin typeface="Canva Sans"/>
              </a:endParaRPr>
            </a:p>
          </p:txBody>
        </p:sp>
      </p:grpSp>
      <p:grpSp>
        <p:nvGrpSpPr>
          <p:cNvPr id="15" name="Group 15"/>
          <p:cNvGrpSpPr/>
          <p:nvPr/>
        </p:nvGrpSpPr>
        <p:grpSpPr>
          <a:xfrm>
            <a:off x="5043775" y="2596693"/>
            <a:ext cx="4081693" cy="7284310"/>
            <a:chOff x="0" y="0"/>
            <a:chExt cx="1075014" cy="1918501"/>
          </a:xfrm>
        </p:grpSpPr>
        <p:sp>
          <p:nvSpPr>
            <p:cNvPr id="16" name="Freeform 16"/>
            <p:cNvSpPr/>
            <p:nvPr/>
          </p:nvSpPr>
          <p:spPr>
            <a:xfrm>
              <a:off x="0" y="0"/>
              <a:ext cx="1075014" cy="1918502"/>
            </a:xfrm>
            <a:custGeom>
              <a:avLst/>
              <a:gdLst/>
              <a:ahLst/>
              <a:cxnLst/>
              <a:rect l="l" t="t" r="r" b="b"/>
              <a:pathLst>
                <a:path w="1075014" h="1918502">
                  <a:moveTo>
                    <a:pt x="0" y="0"/>
                  </a:moveTo>
                  <a:lnTo>
                    <a:pt x="1075014" y="0"/>
                  </a:lnTo>
                  <a:lnTo>
                    <a:pt x="1075014" y="1918502"/>
                  </a:lnTo>
                  <a:lnTo>
                    <a:pt x="0" y="1918502"/>
                  </a:lnTo>
                  <a:close/>
                </a:path>
              </a:pathLst>
            </a:custGeom>
            <a:solidFill>
              <a:srgbClr val="EFEFEF"/>
            </a:solidFill>
            <a:ln w="38100">
              <a:solidFill>
                <a:srgbClr val="545454"/>
              </a:solidFill>
            </a:ln>
          </p:spPr>
        </p:sp>
        <p:sp>
          <p:nvSpPr>
            <p:cNvPr id="17" name="TextBox 1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340627" y="2596693"/>
            <a:ext cx="4081693" cy="7284310"/>
            <a:chOff x="0" y="0"/>
            <a:chExt cx="1075014" cy="1918501"/>
          </a:xfrm>
        </p:grpSpPr>
        <p:sp>
          <p:nvSpPr>
            <p:cNvPr id="19" name="Freeform 19"/>
            <p:cNvSpPr/>
            <p:nvPr/>
          </p:nvSpPr>
          <p:spPr>
            <a:xfrm>
              <a:off x="0" y="0"/>
              <a:ext cx="1075014" cy="1918502"/>
            </a:xfrm>
            <a:custGeom>
              <a:avLst/>
              <a:gdLst/>
              <a:ahLst/>
              <a:cxnLst/>
              <a:rect l="l" t="t" r="r" b="b"/>
              <a:pathLst>
                <a:path w="1075014" h="1918502">
                  <a:moveTo>
                    <a:pt x="0" y="0"/>
                  </a:moveTo>
                  <a:lnTo>
                    <a:pt x="1075014" y="0"/>
                  </a:lnTo>
                  <a:lnTo>
                    <a:pt x="1075014" y="1918502"/>
                  </a:lnTo>
                  <a:lnTo>
                    <a:pt x="0" y="1918502"/>
                  </a:lnTo>
                  <a:close/>
                </a:path>
              </a:pathLst>
            </a:custGeom>
            <a:solidFill>
              <a:srgbClr val="EFEFEF"/>
            </a:solidFill>
            <a:ln w="38100">
              <a:solidFill>
                <a:srgbClr val="545454"/>
              </a:solidFill>
            </a:ln>
          </p:spPr>
        </p:sp>
        <p:sp>
          <p:nvSpPr>
            <p:cNvPr id="20" name="TextBox 20"/>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15650539" y="1709287"/>
            <a:ext cx="859614" cy="1291769"/>
          </a:xfrm>
          <a:custGeom>
            <a:avLst/>
            <a:gdLst/>
            <a:ahLst/>
            <a:cxnLst/>
            <a:rect l="l" t="t" r="r" b="b"/>
            <a:pathLst>
              <a:path w="859614" h="1291769">
                <a:moveTo>
                  <a:pt x="0" y="0"/>
                </a:moveTo>
                <a:lnTo>
                  <a:pt x="859613" y="0"/>
                </a:lnTo>
                <a:lnTo>
                  <a:pt x="859613" y="1291769"/>
                </a:lnTo>
                <a:lnTo>
                  <a:pt x="0" y="12917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1107394" y="1709287"/>
            <a:ext cx="859614" cy="1291769"/>
          </a:xfrm>
          <a:custGeom>
            <a:avLst/>
            <a:gdLst/>
            <a:ahLst/>
            <a:cxnLst/>
            <a:rect l="l" t="t" r="r" b="b"/>
            <a:pathLst>
              <a:path w="859614" h="1291769">
                <a:moveTo>
                  <a:pt x="0" y="0"/>
                </a:moveTo>
                <a:lnTo>
                  <a:pt x="859614" y="0"/>
                </a:lnTo>
                <a:lnTo>
                  <a:pt x="859614" y="1291769"/>
                </a:lnTo>
                <a:lnTo>
                  <a:pt x="0" y="12917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6564250" y="1709287"/>
            <a:ext cx="859614" cy="1291769"/>
          </a:xfrm>
          <a:custGeom>
            <a:avLst/>
            <a:gdLst/>
            <a:ahLst/>
            <a:cxnLst/>
            <a:rect l="l" t="t" r="r" b="b"/>
            <a:pathLst>
              <a:path w="859614" h="1291769">
                <a:moveTo>
                  <a:pt x="0" y="0"/>
                </a:moveTo>
                <a:lnTo>
                  <a:pt x="859614" y="0"/>
                </a:lnTo>
                <a:lnTo>
                  <a:pt x="859614" y="1291769"/>
                </a:lnTo>
                <a:lnTo>
                  <a:pt x="0" y="129176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TextBox 24"/>
          <p:cNvSpPr txBox="1"/>
          <p:nvPr/>
        </p:nvSpPr>
        <p:spPr>
          <a:xfrm>
            <a:off x="5169447" y="3321327"/>
            <a:ext cx="3885794" cy="721995"/>
          </a:xfrm>
          <a:prstGeom prst="rect">
            <a:avLst/>
          </a:prstGeom>
        </p:spPr>
        <p:txBody>
          <a:bodyPr lIns="0" tIns="0" rIns="0" bIns="0" rtlCol="0" anchor="t">
            <a:spAutoFit/>
          </a:bodyPr>
          <a:lstStyle/>
          <a:p>
            <a:pPr algn="ctr">
              <a:lnSpc>
                <a:spcPts val="5880"/>
              </a:lnSpc>
            </a:pPr>
            <a:r>
              <a:rPr lang="en-US" sz="4200">
                <a:solidFill>
                  <a:srgbClr val="FF5757"/>
                </a:solidFill>
                <a:latin typeface="Fredoka One"/>
              </a:rPr>
              <a:t>LEARNABILITY</a:t>
            </a:r>
          </a:p>
        </p:txBody>
      </p:sp>
      <p:sp>
        <p:nvSpPr>
          <p:cNvPr id="25" name="TextBox 25"/>
          <p:cNvSpPr txBox="1"/>
          <p:nvPr/>
        </p:nvSpPr>
        <p:spPr>
          <a:xfrm>
            <a:off x="9396201" y="3385203"/>
            <a:ext cx="4026119" cy="721995"/>
          </a:xfrm>
          <a:prstGeom prst="rect">
            <a:avLst/>
          </a:prstGeom>
        </p:spPr>
        <p:txBody>
          <a:bodyPr lIns="0" tIns="0" rIns="0" bIns="0" rtlCol="0" anchor="t">
            <a:spAutoFit/>
          </a:bodyPr>
          <a:lstStyle/>
          <a:p>
            <a:pPr algn="ctr">
              <a:lnSpc>
                <a:spcPts val="5880"/>
              </a:lnSpc>
            </a:pPr>
            <a:r>
              <a:rPr lang="en-US" sz="4200">
                <a:solidFill>
                  <a:srgbClr val="00BF63"/>
                </a:solidFill>
                <a:latin typeface="Fredoka One"/>
              </a:rPr>
              <a:t>CONSISTENCY</a:t>
            </a:r>
          </a:p>
        </p:txBody>
      </p:sp>
      <p:sp>
        <p:nvSpPr>
          <p:cNvPr id="26" name="TextBox 26"/>
          <p:cNvSpPr txBox="1"/>
          <p:nvPr/>
        </p:nvSpPr>
        <p:spPr>
          <a:xfrm>
            <a:off x="13637479" y="3385203"/>
            <a:ext cx="4026119" cy="1464945"/>
          </a:xfrm>
          <a:prstGeom prst="rect">
            <a:avLst/>
          </a:prstGeom>
        </p:spPr>
        <p:txBody>
          <a:bodyPr lIns="0" tIns="0" rIns="0" bIns="0" rtlCol="0" anchor="t">
            <a:spAutoFit/>
          </a:bodyPr>
          <a:lstStyle/>
          <a:p>
            <a:pPr algn="ctr">
              <a:lnSpc>
                <a:spcPts val="5880"/>
              </a:lnSpc>
            </a:pPr>
            <a:r>
              <a:rPr lang="en-US" sz="4200">
                <a:solidFill>
                  <a:srgbClr val="0CC0DF"/>
                </a:solidFill>
                <a:latin typeface="Fredoka One"/>
              </a:rPr>
              <a:t>STRUCTURE</a:t>
            </a:r>
          </a:p>
          <a:p>
            <a:pPr algn="ctr">
              <a:lnSpc>
                <a:spcPts val="5880"/>
              </a:lnSpc>
            </a:pPr>
            <a:r>
              <a:rPr lang="en-US" sz="4200">
                <a:solidFill>
                  <a:srgbClr val="0CC0DF"/>
                </a:solidFill>
                <a:latin typeface="Fredoka One"/>
              </a:rPr>
              <a:t>PRINCIPLE</a:t>
            </a:r>
          </a:p>
        </p:txBody>
      </p:sp>
      <p:sp>
        <p:nvSpPr>
          <p:cNvPr id="27" name="TextBox 27"/>
          <p:cNvSpPr txBox="1"/>
          <p:nvPr/>
        </p:nvSpPr>
        <p:spPr>
          <a:xfrm>
            <a:off x="5169447" y="4402156"/>
            <a:ext cx="3980680" cy="1327150"/>
          </a:xfrm>
          <a:prstGeom prst="rect">
            <a:avLst/>
          </a:prstGeom>
        </p:spPr>
        <p:txBody>
          <a:bodyPr lIns="0" tIns="0" rIns="0" bIns="0" rtlCol="0" anchor="t">
            <a:spAutoFit/>
          </a:bodyPr>
          <a:lstStyle/>
          <a:p>
            <a:pPr marL="410209" lvl="1" indent="-205105">
              <a:lnSpc>
                <a:spcPts val="2659"/>
              </a:lnSpc>
              <a:buFont typeface="Arial"/>
              <a:buChar char="•"/>
            </a:pPr>
            <a:r>
              <a:rPr lang="en-US" sz="1899">
                <a:solidFill>
                  <a:srgbClr val="FF5757"/>
                </a:solidFill>
                <a:latin typeface="Canva Sans Bold"/>
              </a:rPr>
              <a:t>ELDERLY-FRIENDLY SMARTPHONE APP FOR EASY NAVIGATION</a:t>
            </a:r>
          </a:p>
          <a:p>
            <a:pPr>
              <a:lnSpc>
                <a:spcPts val="2659"/>
              </a:lnSpc>
            </a:pPr>
            <a:endParaRPr lang="en-US" sz="1899">
              <a:solidFill>
                <a:srgbClr val="FF5757"/>
              </a:solidFill>
              <a:latin typeface="Canva Sans Bold"/>
            </a:endParaRPr>
          </a:p>
        </p:txBody>
      </p:sp>
      <p:sp>
        <p:nvSpPr>
          <p:cNvPr id="28" name="TextBox 28"/>
          <p:cNvSpPr txBox="1"/>
          <p:nvPr/>
        </p:nvSpPr>
        <p:spPr>
          <a:xfrm>
            <a:off x="9441640" y="4378026"/>
            <a:ext cx="3980680" cy="1997710"/>
          </a:xfrm>
          <a:prstGeom prst="rect">
            <a:avLst/>
          </a:prstGeom>
        </p:spPr>
        <p:txBody>
          <a:bodyPr lIns="0" tIns="0" rIns="0" bIns="0" rtlCol="0" anchor="t">
            <a:spAutoFit/>
          </a:bodyPr>
          <a:lstStyle/>
          <a:p>
            <a:pPr marL="410209" lvl="1" indent="-205105">
              <a:lnSpc>
                <a:spcPts val="2659"/>
              </a:lnSpc>
              <a:buFont typeface="Arial"/>
              <a:buChar char="•"/>
            </a:pPr>
            <a:r>
              <a:rPr lang="en-US" sz="1899">
                <a:solidFill>
                  <a:srgbClr val="00BF63"/>
                </a:solidFill>
                <a:latin typeface="Canva Sans Bold"/>
              </a:rPr>
              <a:t>DEPENDABLE USER INTERFACE</a:t>
            </a:r>
          </a:p>
          <a:p>
            <a:pPr marL="410209" lvl="1" indent="-205105">
              <a:lnSpc>
                <a:spcPts val="2659"/>
              </a:lnSpc>
              <a:buFont typeface="Arial"/>
              <a:buChar char="•"/>
            </a:pPr>
            <a:r>
              <a:rPr lang="en-US" sz="1899">
                <a:solidFill>
                  <a:srgbClr val="00BF63"/>
                </a:solidFill>
                <a:latin typeface="Canva Sans Bold"/>
              </a:rPr>
              <a:t>CONSISTENT COLOR SCHEMES, SPACE, FONT SIZE, AND BUTTONS</a:t>
            </a:r>
          </a:p>
          <a:p>
            <a:pPr>
              <a:lnSpc>
                <a:spcPts val="2659"/>
              </a:lnSpc>
            </a:pPr>
            <a:endParaRPr lang="en-US" sz="1899">
              <a:solidFill>
                <a:srgbClr val="00BF63"/>
              </a:solidFill>
              <a:latin typeface="Canva Sans Bold"/>
            </a:endParaRPr>
          </a:p>
        </p:txBody>
      </p:sp>
      <p:sp>
        <p:nvSpPr>
          <p:cNvPr id="29" name="TextBox 29"/>
          <p:cNvSpPr txBox="1"/>
          <p:nvPr/>
        </p:nvSpPr>
        <p:spPr>
          <a:xfrm>
            <a:off x="13612820" y="4935873"/>
            <a:ext cx="3980680" cy="1664335"/>
          </a:xfrm>
          <a:prstGeom prst="rect">
            <a:avLst/>
          </a:prstGeom>
        </p:spPr>
        <p:txBody>
          <a:bodyPr lIns="0" tIns="0" rIns="0" bIns="0" rtlCol="0" anchor="t">
            <a:spAutoFit/>
          </a:bodyPr>
          <a:lstStyle/>
          <a:p>
            <a:pPr marL="410209" lvl="1" indent="-205105">
              <a:lnSpc>
                <a:spcPts val="2659"/>
              </a:lnSpc>
              <a:buFont typeface="Arial"/>
              <a:buChar char="•"/>
            </a:pPr>
            <a:r>
              <a:rPr lang="en-US" sz="1899">
                <a:solidFill>
                  <a:srgbClr val="0CC0DF"/>
                </a:solidFill>
                <a:latin typeface="Canva Sans Bold"/>
              </a:rPr>
              <a:t>RELATED OR SIMILAR THINGS ARE PUT TOGETHER</a:t>
            </a:r>
          </a:p>
          <a:p>
            <a:pPr marL="410209" lvl="1" indent="-205105">
              <a:lnSpc>
                <a:spcPts val="2659"/>
              </a:lnSpc>
              <a:buFont typeface="Arial"/>
              <a:buChar char="•"/>
            </a:pPr>
            <a:r>
              <a:rPr lang="en-US" sz="1899">
                <a:solidFill>
                  <a:srgbClr val="0CC0DF"/>
                </a:solidFill>
                <a:latin typeface="Canva Sans Bold"/>
              </a:rPr>
              <a:t>FONT, COLOUR, AND BRIGHTNESS ARE CONSIDERED</a:t>
            </a:r>
          </a:p>
        </p:txBody>
      </p:sp>
      <p:sp>
        <p:nvSpPr>
          <p:cNvPr id="30" name="Freeform 30"/>
          <p:cNvSpPr/>
          <p:nvPr/>
        </p:nvSpPr>
        <p:spPr>
          <a:xfrm>
            <a:off x="16327640" y="8571883"/>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97487" y="1985307"/>
            <a:ext cx="17259300" cy="1768767"/>
            <a:chOff x="0" y="0"/>
            <a:chExt cx="4545659" cy="465848"/>
          </a:xfrm>
        </p:grpSpPr>
        <p:sp>
          <p:nvSpPr>
            <p:cNvPr id="6" name="Freeform 6"/>
            <p:cNvSpPr/>
            <p:nvPr/>
          </p:nvSpPr>
          <p:spPr>
            <a:xfrm>
              <a:off x="0" y="0"/>
              <a:ext cx="4545659" cy="465848"/>
            </a:xfrm>
            <a:custGeom>
              <a:avLst/>
              <a:gdLst/>
              <a:ahLst/>
              <a:cxnLst/>
              <a:rect l="l" t="t" r="r" b="b"/>
              <a:pathLst>
                <a:path w="4545659" h="465848">
                  <a:moveTo>
                    <a:pt x="0" y="0"/>
                  </a:moveTo>
                  <a:lnTo>
                    <a:pt x="4545659" y="0"/>
                  </a:lnTo>
                  <a:lnTo>
                    <a:pt x="4545659" y="465848"/>
                  </a:lnTo>
                  <a:lnTo>
                    <a:pt x="0" y="465848"/>
                  </a:lnTo>
                  <a:close/>
                </a:path>
              </a:pathLst>
            </a:custGeom>
            <a:solidFill>
              <a:srgbClr val="EFEFEF"/>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869415" y="292172"/>
            <a:ext cx="14728183" cy="1426968"/>
            <a:chOff x="0" y="0"/>
            <a:chExt cx="3879028" cy="375827"/>
          </a:xfrm>
        </p:grpSpPr>
        <p:sp>
          <p:nvSpPr>
            <p:cNvPr id="9" name="Freeform 9"/>
            <p:cNvSpPr/>
            <p:nvPr/>
          </p:nvSpPr>
          <p:spPr>
            <a:xfrm>
              <a:off x="0" y="0"/>
              <a:ext cx="3879028" cy="375827"/>
            </a:xfrm>
            <a:custGeom>
              <a:avLst/>
              <a:gdLst/>
              <a:ahLst/>
              <a:cxnLst/>
              <a:rect l="l" t="t" r="r" b="b"/>
              <a:pathLst>
                <a:path w="3879028" h="375827">
                  <a:moveTo>
                    <a:pt x="0" y="0"/>
                  </a:moveTo>
                  <a:lnTo>
                    <a:pt x="3879028" y="0"/>
                  </a:lnTo>
                  <a:lnTo>
                    <a:pt x="3879028" y="375827"/>
                  </a:lnTo>
                  <a:lnTo>
                    <a:pt x="0" y="375827"/>
                  </a:lnTo>
                  <a:close/>
                </a:path>
              </a:pathLst>
            </a:custGeom>
            <a:solidFill>
              <a:srgbClr val="DDDEDE"/>
            </a:solidFill>
            <a:ln w="38100">
              <a:solidFill>
                <a:srgbClr val="F1F2F2"/>
              </a:solidFill>
            </a:ln>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63278" y="376073"/>
            <a:ext cx="16761444" cy="1125781"/>
          </a:xfrm>
          <a:prstGeom prst="rect">
            <a:avLst/>
          </a:prstGeom>
        </p:spPr>
        <p:txBody>
          <a:bodyPr lIns="0" tIns="0" rIns="0" bIns="0" rtlCol="0" anchor="t">
            <a:spAutoFit/>
          </a:bodyPr>
          <a:lstStyle/>
          <a:p>
            <a:pPr algn="ctr">
              <a:lnSpc>
                <a:spcPts val="9250"/>
              </a:lnSpc>
            </a:pPr>
            <a:r>
              <a:rPr lang="en-US" sz="6607">
                <a:solidFill>
                  <a:srgbClr val="000000"/>
                </a:solidFill>
                <a:latin typeface="Fredoka One Bold"/>
              </a:rPr>
              <a:t>SCENARIOS &amp; WIREFRAME DESIGN</a:t>
            </a:r>
          </a:p>
        </p:txBody>
      </p:sp>
      <p:sp>
        <p:nvSpPr>
          <p:cNvPr id="12" name="TextBox 12"/>
          <p:cNvSpPr txBox="1"/>
          <p:nvPr/>
        </p:nvSpPr>
        <p:spPr>
          <a:xfrm>
            <a:off x="7014492" y="2057602"/>
            <a:ext cx="10561320" cy="1656715"/>
          </a:xfrm>
          <a:prstGeom prst="rect">
            <a:avLst/>
          </a:prstGeom>
        </p:spPr>
        <p:txBody>
          <a:bodyPr lIns="0" tIns="0" rIns="0" bIns="0" rtlCol="0" anchor="t">
            <a:spAutoFit/>
          </a:bodyPr>
          <a:lstStyle/>
          <a:p>
            <a:pPr marL="410211" lvl="1" indent="-205106">
              <a:lnSpc>
                <a:spcPts val="2660"/>
              </a:lnSpc>
              <a:buFont typeface="Arial"/>
              <a:buChar char="•"/>
            </a:pPr>
            <a:r>
              <a:rPr lang="en-US" sz="1900">
                <a:solidFill>
                  <a:srgbClr val="FF3131"/>
                </a:solidFill>
                <a:latin typeface="Nunito Bold"/>
              </a:rPr>
              <a:t> VISUAL DESIGN: </a:t>
            </a:r>
            <a:r>
              <a:rPr lang="en-US" sz="1900">
                <a:solidFill>
                  <a:srgbClr val="FF3131"/>
                </a:solidFill>
                <a:latin typeface="Nunito"/>
              </a:rPr>
              <a:t>A)Clear and visible icons/fonts/buttons for menu components, B)Use of Proper Color - gray background, red for fire, C)Readable texts</a:t>
            </a:r>
          </a:p>
          <a:p>
            <a:pPr marL="410211" lvl="1" indent="-205106">
              <a:lnSpc>
                <a:spcPts val="2660"/>
              </a:lnSpc>
              <a:buFont typeface="Arial"/>
              <a:buChar char="•"/>
            </a:pPr>
            <a:r>
              <a:rPr lang="en-US" sz="1900">
                <a:solidFill>
                  <a:srgbClr val="FF3131"/>
                </a:solidFill>
                <a:latin typeface="Nunito Bold"/>
              </a:rPr>
              <a:t>EASE OF UNDERSTANDING - </a:t>
            </a:r>
            <a:r>
              <a:rPr lang="en-US" sz="1900">
                <a:solidFill>
                  <a:srgbClr val="FF3131"/>
                </a:solidFill>
                <a:latin typeface="Nunito"/>
              </a:rPr>
              <a:t>insightful and simple icons/menus/content</a:t>
            </a:r>
          </a:p>
          <a:p>
            <a:pPr marL="410211" lvl="1" indent="-205106">
              <a:lnSpc>
                <a:spcPts val="2660"/>
              </a:lnSpc>
              <a:buFont typeface="Arial"/>
              <a:buChar char="•"/>
            </a:pPr>
            <a:r>
              <a:rPr lang="en-US" sz="1900">
                <a:solidFill>
                  <a:srgbClr val="FF3131"/>
                </a:solidFill>
                <a:latin typeface="Nunito Bold"/>
              </a:rPr>
              <a:t>NAVIGATION AND INTERACTION</a:t>
            </a:r>
            <a:r>
              <a:rPr lang="en-US" sz="1900">
                <a:solidFill>
                  <a:srgbClr val="FF3131"/>
                </a:solidFill>
                <a:latin typeface="Nunito"/>
              </a:rPr>
              <a:t>  - elderly are able to know where they are situated in the app</a:t>
            </a:r>
          </a:p>
        </p:txBody>
      </p:sp>
      <p:sp>
        <p:nvSpPr>
          <p:cNvPr id="13" name="TextBox 13"/>
          <p:cNvSpPr txBox="1"/>
          <p:nvPr/>
        </p:nvSpPr>
        <p:spPr>
          <a:xfrm>
            <a:off x="1457195" y="2271604"/>
            <a:ext cx="5229438" cy="1190611"/>
          </a:xfrm>
          <a:prstGeom prst="rect">
            <a:avLst/>
          </a:prstGeom>
        </p:spPr>
        <p:txBody>
          <a:bodyPr lIns="0" tIns="0" rIns="0" bIns="0" rtlCol="0" anchor="t">
            <a:spAutoFit/>
          </a:bodyPr>
          <a:lstStyle/>
          <a:p>
            <a:pPr algn="r">
              <a:lnSpc>
                <a:spcPts val="4725"/>
              </a:lnSpc>
            </a:pPr>
            <a:r>
              <a:rPr lang="en-US" sz="3375">
                <a:solidFill>
                  <a:srgbClr val="FF3131"/>
                </a:solidFill>
                <a:latin typeface="Fredoka One"/>
              </a:rPr>
              <a:t>SCENARIO 1: </a:t>
            </a:r>
          </a:p>
          <a:p>
            <a:pPr algn="r">
              <a:lnSpc>
                <a:spcPts val="4725"/>
              </a:lnSpc>
            </a:pPr>
            <a:r>
              <a:rPr lang="en-US" sz="3375">
                <a:solidFill>
                  <a:srgbClr val="FF3131"/>
                </a:solidFill>
                <a:latin typeface="Fredoka One"/>
              </a:rPr>
              <a:t>FIRE ALERT - REAL FIRE</a:t>
            </a:r>
            <a:r>
              <a:rPr lang="en-US" sz="3375">
                <a:solidFill>
                  <a:srgbClr val="545454"/>
                </a:solidFill>
                <a:latin typeface="Fredoka One"/>
              </a:rPr>
              <a:t> </a:t>
            </a:r>
          </a:p>
        </p:txBody>
      </p:sp>
      <p:sp>
        <p:nvSpPr>
          <p:cNvPr id="14" name="AutoShape 14"/>
          <p:cNvSpPr/>
          <p:nvPr/>
        </p:nvSpPr>
        <p:spPr>
          <a:xfrm flipV="1">
            <a:off x="6938294" y="2337494"/>
            <a:ext cx="9525" cy="1064394"/>
          </a:xfrm>
          <a:prstGeom prst="line">
            <a:avLst/>
          </a:prstGeom>
          <a:ln w="133350" cap="flat">
            <a:solidFill>
              <a:srgbClr val="000000"/>
            </a:solidFill>
            <a:prstDash val="solid"/>
            <a:headEnd type="none" w="sm" len="sm"/>
            <a:tailEnd type="none" w="sm" len="sm"/>
          </a:ln>
        </p:spPr>
      </p:sp>
      <p:grpSp>
        <p:nvGrpSpPr>
          <p:cNvPr id="15" name="Group 15"/>
          <p:cNvGrpSpPr/>
          <p:nvPr/>
        </p:nvGrpSpPr>
        <p:grpSpPr>
          <a:xfrm>
            <a:off x="497487" y="4024190"/>
            <a:ext cx="17259300" cy="1664555"/>
            <a:chOff x="0" y="0"/>
            <a:chExt cx="4545659" cy="438401"/>
          </a:xfrm>
        </p:grpSpPr>
        <p:sp>
          <p:nvSpPr>
            <p:cNvPr id="16" name="Freeform 16"/>
            <p:cNvSpPr/>
            <p:nvPr/>
          </p:nvSpPr>
          <p:spPr>
            <a:xfrm>
              <a:off x="0" y="0"/>
              <a:ext cx="4545659" cy="438401"/>
            </a:xfrm>
            <a:custGeom>
              <a:avLst/>
              <a:gdLst/>
              <a:ahLst/>
              <a:cxnLst/>
              <a:rect l="l" t="t" r="r" b="b"/>
              <a:pathLst>
                <a:path w="4545659" h="438401">
                  <a:moveTo>
                    <a:pt x="0" y="0"/>
                  </a:moveTo>
                  <a:lnTo>
                    <a:pt x="4545659" y="0"/>
                  </a:lnTo>
                  <a:lnTo>
                    <a:pt x="4545659" y="438401"/>
                  </a:lnTo>
                  <a:lnTo>
                    <a:pt x="0" y="438401"/>
                  </a:lnTo>
                  <a:close/>
                </a:path>
              </a:pathLst>
            </a:custGeom>
            <a:solidFill>
              <a:srgbClr val="F1F2F2"/>
            </a:solidFill>
          </p:spPr>
        </p:sp>
        <p:sp>
          <p:nvSpPr>
            <p:cNvPr id="17" name="TextBox 1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578290" y="7896225"/>
            <a:ext cx="17259300" cy="1992770"/>
            <a:chOff x="0" y="0"/>
            <a:chExt cx="4545659" cy="524845"/>
          </a:xfrm>
        </p:grpSpPr>
        <p:sp>
          <p:nvSpPr>
            <p:cNvPr id="19" name="Freeform 19"/>
            <p:cNvSpPr/>
            <p:nvPr/>
          </p:nvSpPr>
          <p:spPr>
            <a:xfrm>
              <a:off x="0" y="0"/>
              <a:ext cx="4545659" cy="524845"/>
            </a:xfrm>
            <a:custGeom>
              <a:avLst/>
              <a:gdLst/>
              <a:ahLst/>
              <a:cxnLst/>
              <a:rect l="l" t="t" r="r" b="b"/>
              <a:pathLst>
                <a:path w="4545659" h="524845">
                  <a:moveTo>
                    <a:pt x="0" y="0"/>
                  </a:moveTo>
                  <a:lnTo>
                    <a:pt x="4545659" y="0"/>
                  </a:lnTo>
                  <a:lnTo>
                    <a:pt x="4545659" y="524845"/>
                  </a:lnTo>
                  <a:lnTo>
                    <a:pt x="0" y="524845"/>
                  </a:lnTo>
                  <a:close/>
                </a:path>
              </a:pathLst>
            </a:custGeom>
            <a:solidFill>
              <a:srgbClr val="F1F2F2"/>
            </a:solidFill>
          </p:spPr>
        </p:sp>
        <p:sp>
          <p:nvSpPr>
            <p:cNvPr id="20" name="TextBox 20"/>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578290" y="5936395"/>
            <a:ext cx="17259300" cy="1746670"/>
            <a:chOff x="0" y="0"/>
            <a:chExt cx="4545659" cy="460028"/>
          </a:xfrm>
        </p:grpSpPr>
        <p:sp>
          <p:nvSpPr>
            <p:cNvPr id="22" name="Freeform 22"/>
            <p:cNvSpPr/>
            <p:nvPr/>
          </p:nvSpPr>
          <p:spPr>
            <a:xfrm>
              <a:off x="0" y="0"/>
              <a:ext cx="4545659" cy="460028"/>
            </a:xfrm>
            <a:custGeom>
              <a:avLst/>
              <a:gdLst/>
              <a:ahLst/>
              <a:cxnLst/>
              <a:rect l="l" t="t" r="r" b="b"/>
              <a:pathLst>
                <a:path w="4545659" h="460028">
                  <a:moveTo>
                    <a:pt x="0" y="0"/>
                  </a:moveTo>
                  <a:lnTo>
                    <a:pt x="4545659" y="0"/>
                  </a:lnTo>
                  <a:lnTo>
                    <a:pt x="4545659" y="460028"/>
                  </a:lnTo>
                  <a:lnTo>
                    <a:pt x="0" y="460028"/>
                  </a:lnTo>
                  <a:close/>
                </a:path>
              </a:pathLst>
            </a:custGeom>
            <a:solidFill>
              <a:srgbClr val="F1F2F2"/>
            </a:solidFill>
          </p:spPr>
        </p:sp>
        <p:sp>
          <p:nvSpPr>
            <p:cNvPr id="23" name="TextBox 23"/>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473735" y="4196101"/>
            <a:ext cx="6108344" cy="1190611"/>
          </a:xfrm>
          <a:prstGeom prst="rect">
            <a:avLst/>
          </a:prstGeom>
        </p:spPr>
        <p:txBody>
          <a:bodyPr lIns="0" tIns="0" rIns="0" bIns="0" rtlCol="0" anchor="t">
            <a:spAutoFit/>
          </a:bodyPr>
          <a:lstStyle/>
          <a:p>
            <a:pPr algn="r">
              <a:lnSpc>
                <a:spcPts val="4725"/>
              </a:lnSpc>
            </a:pPr>
            <a:r>
              <a:rPr lang="en-US" sz="3375">
                <a:solidFill>
                  <a:srgbClr val="0097B2"/>
                </a:solidFill>
                <a:latin typeface="Fredoka One"/>
              </a:rPr>
              <a:t>SCENARIO 2: </a:t>
            </a:r>
          </a:p>
          <a:p>
            <a:pPr algn="r">
              <a:lnSpc>
                <a:spcPts val="4725"/>
              </a:lnSpc>
            </a:pPr>
            <a:r>
              <a:rPr lang="en-US" sz="3375">
                <a:solidFill>
                  <a:srgbClr val="0097B2"/>
                </a:solidFill>
                <a:latin typeface="Fredoka One"/>
              </a:rPr>
              <a:t>FIRE ALERT - FALSE  ALARM</a:t>
            </a:r>
          </a:p>
        </p:txBody>
      </p:sp>
      <p:sp>
        <p:nvSpPr>
          <p:cNvPr id="25" name="TextBox 25"/>
          <p:cNvSpPr txBox="1"/>
          <p:nvPr/>
        </p:nvSpPr>
        <p:spPr>
          <a:xfrm>
            <a:off x="843712" y="6159080"/>
            <a:ext cx="5738367" cy="1190611"/>
          </a:xfrm>
          <a:prstGeom prst="rect">
            <a:avLst/>
          </a:prstGeom>
        </p:spPr>
        <p:txBody>
          <a:bodyPr lIns="0" tIns="0" rIns="0" bIns="0" rtlCol="0" anchor="t">
            <a:spAutoFit/>
          </a:bodyPr>
          <a:lstStyle/>
          <a:p>
            <a:pPr algn="r">
              <a:lnSpc>
                <a:spcPts val="4725"/>
              </a:lnSpc>
            </a:pPr>
            <a:r>
              <a:rPr lang="en-US" sz="3375">
                <a:solidFill>
                  <a:srgbClr val="5A5957"/>
                </a:solidFill>
                <a:latin typeface="Fredoka One"/>
              </a:rPr>
              <a:t>SCENARIO 3:</a:t>
            </a:r>
          </a:p>
          <a:p>
            <a:pPr algn="r">
              <a:lnSpc>
                <a:spcPts val="4725"/>
              </a:lnSpc>
            </a:pPr>
            <a:r>
              <a:rPr lang="en-US" sz="3375">
                <a:solidFill>
                  <a:srgbClr val="5A5957"/>
                </a:solidFill>
                <a:latin typeface="Fredoka One"/>
              </a:rPr>
              <a:t>DAILY CHECK-IN FEATURE</a:t>
            </a:r>
          </a:p>
        </p:txBody>
      </p:sp>
      <p:sp>
        <p:nvSpPr>
          <p:cNvPr id="26" name="TextBox 26"/>
          <p:cNvSpPr txBox="1"/>
          <p:nvPr/>
        </p:nvSpPr>
        <p:spPr>
          <a:xfrm>
            <a:off x="658723" y="7959167"/>
            <a:ext cx="5923355" cy="1790686"/>
          </a:xfrm>
          <a:prstGeom prst="rect">
            <a:avLst/>
          </a:prstGeom>
        </p:spPr>
        <p:txBody>
          <a:bodyPr lIns="0" tIns="0" rIns="0" bIns="0" rtlCol="0" anchor="t">
            <a:spAutoFit/>
          </a:bodyPr>
          <a:lstStyle/>
          <a:p>
            <a:pPr algn="r">
              <a:lnSpc>
                <a:spcPts val="4725"/>
              </a:lnSpc>
            </a:pPr>
            <a:r>
              <a:rPr lang="en-US" sz="3375">
                <a:solidFill>
                  <a:srgbClr val="00BF63"/>
                </a:solidFill>
                <a:latin typeface="Fredoka One"/>
              </a:rPr>
              <a:t>SCENARIO 4:</a:t>
            </a:r>
          </a:p>
          <a:p>
            <a:pPr algn="r">
              <a:lnSpc>
                <a:spcPts val="4725"/>
              </a:lnSpc>
            </a:pPr>
            <a:r>
              <a:rPr lang="en-US" sz="3375">
                <a:solidFill>
                  <a:srgbClr val="00BF63"/>
                </a:solidFill>
                <a:latin typeface="Fredoka One"/>
              </a:rPr>
              <a:t>FIRE RISK ASSESSMENT &amp; PREVENTION TIPS</a:t>
            </a:r>
          </a:p>
        </p:txBody>
      </p:sp>
      <p:sp>
        <p:nvSpPr>
          <p:cNvPr id="27" name="AutoShape 27"/>
          <p:cNvSpPr/>
          <p:nvPr/>
        </p:nvSpPr>
        <p:spPr>
          <a:xfrm flipV="1">
            <a:off x="6938294" y="4321721"/>
            <a:ext cx="9525" cy="1064394"/>
          </a:xfrm>
          <a:prstGeom prst="line">
            <a:avLst/>
          </a:prstGeom>
          <a:ln w="133350" cap="flat">
            <a:solidFill>
              <a:srgbClr val="000000"/>
            </a:solidFill>
            <a:prstDash val="solid"/>
            <a:headEnd type="none" w="sm" len="sm"/>
            <a:tailEnd type="none" w="sm" len="sm"/>
          </a:ln>
        </p:spPr>
      </p:sp>
      <p:sp>
        <p:nvSpPr>
          <p:cNvPr id="28" name="AutoShape 28"/>
          <p:cNvSpPr/>
          <p:nvPr/>
        </p:nvSpPr>
        <p:spPr>
          <a:xfrm flipV="1">
            <a:off x="6869241" y="8447197"/>
            <a:ext cx="4763" cy="1302412"/>
          </a:xfrm>
          <a:prstGeom prst="line">
            <a:avLst/>
          </a:prstGeom>
          <a:ln w="133350" cap="flat">
            <a:solidFill>
              <a:srgbClr val="000000"/>
            </a:solidFill>
            <a:prstDash val="solid"/>
            <a:headEnd type="none" w="sm" len="sm"/>
            <a:tailEnd type="none" w="sm" len="sm"/>
          </a:ln>
        </p:spPr>
      </p:sp>
      <p:sp>
        <p:nvSpPr>
          <p:cNvPr id="29" name="AutoShape 29"/>
          <p:cNvSpPr/>
          <p:nvPr/>
        </p:nvSpPr>
        <p:spPr>
          <a:xfrm flipV="1">
            <a:off x="6938294" y="6341561"/>
            <a:ext cx="9525" cy="1064394"/>
          </a:xfrm>
          <a:prstGeom prst="line">
            <a:avLst/>
          </a:prstGeom>
          <a:ln w="133350" cap="flat">
            <a:solidFill>
              <a:srgbClr val="000000"/>
            </a:solidFill>
            <a:prstDash val="solid"/>
            <a:headEnd type="none" w="sm" len="sm"/>
            <a:tailEnd type="none" w="sm" len="sm"/>
          </a:ln>
        </p:spPr>
      </p:sp>
      <p:sp>
        <p:nvSpPr>
          <p:cNvPr id="31" name="TextBox 31"/>
          <p:cNvSpPr txBox="1"/>
          <p:nvPr/>
        </p:nvSpPr>
        <p:spPr>
          <a:xfrm>
            <a:off x="7014492" y="4175748"/>
            <a:ext cx="10561320" cy="1323340"/>
          </a:xfrm>
          <a:prstGeom prst="rect">
            <a:avLst/>
          </a:prstGeom>
        </p:spPr>
        <p:txBody>
          <a:bodyPr lIns="0" tIns="0" rIns="0" bIns="0" rtlCol="0" anchor="t">
            <a:spAutoFit/>
          </a:bodyPr>
          <a:lstStyle/>
          <a:p>
            <a:pPr marL="410211" lvl="1" indent="-205106">
              <a:lnSpc>
                <a:spcPts val="2660"/>
              </a:lnSpc>
              <a:buFont typeface="Arial"/>
              <a:buChar char="•"/>
            </a:pPr>
            <a:r>
              <a:rPr lang="en-US" sz="1900">
                <a:solidFill>
                  <a:srgbClr val="0097B2"/>
                </a:solidFill>
                <a:latin typeface="Nunito Bold"/>
              </a:rPr>
              <a:t> VISUAL DESIGN: </a:t>
            </a:r>
            <a:r>
              <a:rPr lang="en-US" sz="1900">
                <a:solidFill>
                  <a:srgbClr val="0097B2"/>
                </a:solidFill>
                <a:latin typeface="Nunito"/>
              </a:rPr>
              <a:t>A)familiar icons/fonts/buttons for menu components, B)Use of Proper Color - gray background, red for fire,  blue for safety C)Readable texts</a:t>
            </a:r>
          </a:p>
          <a:p>
            <a:pPr marL="410211" lvl="1" indent="-205106">
              <a:lnSpc>
                <a:spcPts val="2660"/>
              </a:lnSpc>
              <a:buFont typeface="Arial"/>
              <a:buChar char="•"/>
            </a:pPr>
            <a:r>
              <a:rPr lang="en-US" sz="1900">
                <a:solidFill>
                  <a:srgbClr val="0097B2"/>
                </a:solidFill>
                <a:latin typeface="Nunito Bold"/>
              </a:rPr>
              <a:t>EASE OF UNDERSTANDING - </a:t>
            </a:r>
            <a:r>
              <a:rPr lang="en-US" sz="1900">
                <a:solidFill>
                  <a:srgbClr val="0097B2"/>
                </a:solidFill>
                <a:latin typeface="Nunito"/>
              </a:rPr>
              <a:t>texts are easily understood</a:t>
            </a:r>
          </a:p>
          <a:p>
            <a:pPr marL="410211" lvl="1" indent="-205106">
              <a:lnSpc>
                <a:spcPts val="2660"/>
              </a:lnSpc>
              <a:buFont typeface="Arial"/>
              <a:buChar char="•"/>
            </a:pPr>
            <a:r>
              <a:rPr lang="en-US" sz="1900">
                <a:solidFill>
                  <a:srgbClr val="0097B2"/>
                </a:solidFill>
                <a:latin typeface="Nunito Bold"/>
              </a:rPr>
              <a:t>NAVIGATION AND INTERACTION</a:t>
            </a:r>
            <a:r>
              <a:rPr lang="en-US" sz="1900">
                <a:solidFill>
                  <a:srgbClr val="0097B2"/>
                </a:solidFill>
                <a:latin typeface="Nunito"/>
              </a:rPr>
              <a:t>  - easy to navigate</a:t>
            </a:r>
          </a:p>
        </p:txBody>
      </p:sp>
      <p:sp>
        <p:nvSpPr>
          <p:cNvPr id="32" name="TextBox 32"/>
          <p:cNvSpPr txBox="1"/>
          <p:nvPr/>
        </p:nvSpPr>
        <p:spPr>
          <a:xfrm>
            <a:off x="7014492" y="6026350"/>
            <a:ext cx="10561320" cy="1656715"/>
          </a:xfrm>
          <a:prstGeom prst="rect">
            <a:avLst/>
          </a:prstGeom>
        </p:spPr>
        <p:txBody>
          <a:bodyPr lIns="0" tIns="0" rIns="0" bIns="0" rtlCol="0" anchor="t">
            <a:spAutoFit/>
          </a:bodyPr>
          <a:lstStyle/>
          <a:p>
            <a:pPr marL="410211" lvl="1" indent="-205106">
              <a:lnSpc>
                <a:spcPts val="2660"/>
              </a:lnSpc>
              <a:buFont typeface="Arial"/>
              <a:buChar char="•"/>
            </a:pPr>
            <a:r>
              <a:rPr lang="en-US" sz="1900">
                <a:solidFill>
                  <a:srgbClr val="5A5957"/>
                </a:solidFill>
                <a:latin typeface="Nunito Bold"/>
              </a:rPr>
              <a:t> VISUAL DESIGN: </a:t>
            </a:r>
            <a:r>
              <a:rPr lang="en-US" sz="1900">
                <a:solidFill>
                  <a:srgbClr val="5A5957"/>
                </a:solidFill>
                <a:latin typeface="Nunito"/>
              </a:rPr>
              <a:t>A)familiar icons/fonts/buttons for menu components, B)Use of Proper Color - gray background, blue for safety C)Readable texts</a:t>
            </a:r>
          </a:p>
          <a:p>
            <a:pPr marL="410211" lvl="1" indent="-205106">
              <a:lnSpc>
                <a:spcPts val="2660"/>
              </a:lnSpc>
              <a:buFont typeface="Arial"/>
              <a:buChar char="•"/>
            </a:pPr>
            <a:r>
              <a:rPr lang="en-US" sz="1900">
                <a:solidFill>
                  <a:srgbClr val="5A5957"/>
                </a:solidFill>
                <a:latin typeface="Nunito Bold"/>
              </a:rPr>
              <a:t>EASE OF UNDERSTANDING - </a:t>
            </a:r>
            <a:r>
              <a:rPr lang="en-US" sz="1900">
                <a:solidFill>
                  <a:srgbClr val="5A5957"/>
                </a:solidFill>
                <a:latin typeface="Nunito"/>
              </a:rPr>
              <a:t>texts are easily understood</a:t>
            </a:r>
          </a:p>
          <a:p>
            <a:pPr marL="410211" lvl="1" indent="-205106">
              <a:lnSpc>
                <a:spcPts val="2660"/>
              </a:lnSpc>
              <a:buFont typeface="Arial"/>
              <a:buChar char="•"/>
            </a:pPr>
            <a:r>
              <a:rPr lang="en-US" sz="1900">
                <a:solidFill>
                  <a:srgbClr val="5A5957"/>
                </a:solidFill>
                <a:latin typeface="Nunito Bold"/>
              </a:rPr>
              <a:t>NAVIGATION AND INTERACTION</a:t>
            </a:r>
            <a:r>
              <a:rPr lang="en-US" sz="1900">
                <a:solidFill>
                  <a:srgbClr val="5A5957"/>
                </a:solidFill>
                <a:latin typeface="Nunito"/>
              </a:rPr>
              <a:t>  - this feature creates a habit for the senior citizens to respond to the daily customized questions</a:t>
            </a:r>
          </a:p>
        </p:txBody>
      </p:sp>
      <p:sp>
        <p:nvSpPr>
          <p:cNvPr id="33" name="TextBox 33"/>
          <p:cNvSpPr txBox="1"/>
          <p:nvPr/>
        </p:nvSpPr>
        <p:spPr>
          <a:xfrm>
            <a:off x="6963402" y="8211890"/>
            <a:ext cx="10561320" cy="1656715"/>
          </a:xfrm>
          <a:prstGeom prst="rect">
            <a:avLst/>
          </a:prstGeom>
        </p:spPr>
        <p:txBody>
          <a:bodyPr lIns="0" tIns="0" rIns="0" bIns="0" rtlCol="0" anchor="t">
            <a:spAutoFit/>
          </a:bodyPr>
          <a:lstStyle/>
          <a:p>
            <a:pPr marL="410211" lvl="1" indent="-205106">
              <a:lnSpc>
                <a:spcPts val="2660"/>
              </a:lnSpc>
              <a:buFont typeface="Arial"/>
              <a:buChar char="•"/>
            </a:pPr>
            <a:r>
              <a:rPr lang="en-US" sz="1900">
                <a:solidFill>
                  <a:srgbClr val="00BF63"/>
                </a:solidFill>
                <a:latin typeface="Nunito Bold"/>
              </a:rPr>
              <a:t> VISUAL DESIGN: </a:t>
            </a:r>
            <a:r>
              <a:rPr lang="en-US" sz="1900">
                <a:solidFill>
                  <a:srgbClr val="00BF63"/>
                </a:solidFill>
                <a:latin typeface="Nunito"/>
              </a:rPr>
              <a:t>A)familiar icons/fonts/buttons for menu components, B)Use of Proper Color - gray background, blue for safety C)Readable texts</a:t>
            </a:r>
          </a:p>
          <a:p>
            <a:pPr marL="410211" lvl="1" indent="-205106">
              <a:lnSpc>
                <a:spcPts val="2660"/>
              </a:lnSpc>
              <a:buFont typeface="Arial"/>
              <a:buChar char="•"/>
            </a:pPr>
            <a:r>
              <a:rPr lang="en-US" sz="1900">
                <a:solidFill>
                  <a:srgbClr val="00BF63"/>
                </a:solidFill>
                <a:latin typeface="Nunito Bold"/>
              </a:rPr>
              <a:t>EASE OF UNDERSTANDING - </a:t>
            </a:r>
            <a:r>
              <a:rPr lang="en-US" sz="1900">
                <a:solidFill>
                  <a:srgbClr val="00BF63"/>
                </a:solidFill>
                <a:latin typeface="Nunito"/>
              </a:rPr>
              <a:t>assessments and fire tips are easily understood</a:t>
            </a:r>
          </a:p>
          <a:p>
            <a:pPr marL="410211" lvl="1" indent="-205106">
              <a:lnSpc>
                <a:spcPts val="2660"/>
              </a:lnSpc>
              <a:buFont typeface="Arial"/>
              <a:buChar char="•"/>
            </a:pPr>
            <a:r>
              <a:rPr lang="en-US" sz="1900">
                <a:solidFill>
                  <a:srgbClr val="00BF63"/>
                </a:solidFill>
                <a:latin typeface="Nunito Bold"/>
              </a:rPr>
              <a:t>NAVIGATION AND INTERACTION</a:t>
            </a:r>
            <a:r>
              <a:rPr lang="en-US" sz="1900">
                <a:solidFill>
                  <a:srgbClr val="00BF63"/>
                </a:solidFill>
                <a:latin typeface="Nunito"/>
              </a:rPr>
              <a:t>  - easy to navigate using the buttons such as back, next, save, modify, and the prevention tip button.</a:t>
            </a:r>
          </a:p>
        </p:txBody>
      </p:sp>
      <p:sp>
        <p:nvSpPr>
          <p:cNvPr id="34" name="Freeform 34"/>
          <p:cNvSpPr/>
          <p:nvPr/>
        </p:nvSpPr>
        <p:spPr>
          <a:xfrm>
            <a:off x="16590398" y="480942"/>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41348" y="658254"/>
            <a:ext cx="5829482" cy="5638699"/>
          </a:xfrm>
          <a:custGeom>
            <a:avLst/>
            <a:gdLst/>
            <a:ahLst/>
            <a:cxnLst/>
            <a:rect l="l" t="t" r="r" b="b"/>
            <a:pathLst>
              <a:path w="5829482" h="5638699">
                <a:moveTo>
                  <a:pt x="0" y="0"/>
                </a:moveTo>
                <a:lnTo>
                  <a:pt x="5829482" y="0"/>
                </a:lnTo>
                <a:lnTo>
                  <a:pt x="5829482" y="5638699"/>
                </a:lnTo>
                <a:lnTo>
                  <a:pt x="0" y="5638699"/>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3" name="Freeform 3"/>
          <p:cNvSpPr/>
          <p:nvPr/>
        </p:nvSpPr>
        <p:spPr>
          <a:xfrm>
            <a:off x="9370624" y="8176556"/>
            <a:ext cx="2837586" cy="3024558"/>
          </a:xfrm>
          <a:custGeom>
            <a:avLst/>
            <a:gdLst/>
            <a:ahLst/>
            <a:cxnLst/>
            <a:rect l="l" t="t" r="r" b="b"/>
            <a:pathLst>
              <a:path w="2837586" h="3024558">
                <a:moveTo>
                  <a:pt x="0" y="0"/>
                </a:moveTo>
                <a:lnTo>
                  <a:pt x="2837586" y="0"/>
                </a:lnTo>
                <a:lnTo>
                  <a:pt x="2837586" y="3024558"/>
                </a:lnTo>
                <a:lnTo>
                  <a:pt x="0" y="3024558"/>
                </a:lnTo>
                <a:lnTo>
                  <a:pt x="0" y="0"/>
                </a:lnTo>
                <a:close/>
              </a:path>
            </a:pathLst>
          </a:custGeom>
          <a:blipFill>
            <a:blip r:embed="rId4">
              <a:alphaModFix amt="5000"/>
              <a:extLst>
                <a:ext uri="{96DAC541-7B7A-43D3-8B79-37D633B846F1}">
                  <asvg:svgBlip xmlns:asvg="http://schemas.microsoft.com/office/drawing/2016/SVG/main" r:embed="rId5"/>
                </a:ext>
              </a:extLst>
            </a:blip>
            <a:stretch>
              <a:fillRect/>
            </a:stretch>
          </a:blipFill>
        </p:spPr>
      </p:sp>
      <p:sp>
        <p:nvSpPr>
          <p:cNvPr id="4" name="Freeform 4"/>
          <p:cNvSpPr/>
          <p:nvPr/>
        </p:nvSpPr>
        <p:spPr>
          <a:xfrm>
            <a:off x="1728692" y="2743713"/>
            <a:ext cx="3630502" cy="3630502"/>
          </a:xfrm>
          <a:custGeom>
            <a:avLst/>
            <a:gdLst/>
            <a:ahLst/>
            <a:cxnLst/>
            <a:rect l="l" t="t" r="r" b="b"/>
            <a:pathLst>
              <a:path w="3630502" h="3630502">
                <a:moveTo>
                  <a:pt x="0" y="0"/>
                </a:moveTo>
                <a:lnTo>
                  <a:pt x="3630502" y="0"/>
                </a:lnTo>
                <a:lnTo>
                  <a:pt x="3630502" y="3630502"/>
                </a:lnTo>
                <a:lnTo>
                  <a:pt x="0" y="3630502"/>
                </a:lnTo>
                <a:lnTo>
                  <a:pt x="0" y="0"/>
                </a:lnTo>
                <a:close/>
              </a:path>
            </a:pathLst>
          </a:custGeom>
          <a:blipFill>
            <a:blip r:embed="rId6">
              <a:alphaModFix amt="5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028700" y="4511206"/>
            <a:ext cx="2287222" cy="2287222"/>
          </a:xfrm>
          <a:custGeom>
            <a:avLst/>
            <a:gdLst/>
            <a:ahLst/>
            <a:cxnLst/>
            <a:rect l="l" t="t" r="r" b="b"/>
            <a:pathLst>
              <a:path w="2287222" h="2287222">
                <a:moveTo>
                  <a:pt x="0" y="0"/>
                </a:moveTo>
                <a:lnTo>
                  <a:pt x="2287222" y="0"/>
                </a:lnTo>
                <a:lnTo>
                  <a:pt x="2287222" y="2287222"/>
                </a:lnTo>
                <a:lnTo>
                  <a:pt x="0" y="2287222"/>
                </a:lnTo>
                <a:lnTo>
                  <a:pt x="0" y="0"/>
                </a:lnTo>
                <a:close/>
              </a:path>
            </a:pathLst>
          </a:custGeom>
          <a:blipFill>
            <a:blip r:embed="rId8">
              <a:alphaModFix amt="7999"/>
              <a:extLst>
                <a:ext uri="{96DAC541-7B7A-43D3-8B79-37D633B846F1}">
                  <asvg:svgBlip xmlns:asvg="http://schemas.microsoft.com/office/drawing/2016/SVG/main" r:embed="rId9"/>
                </a:ext>
              </a:extLst>
            </a:blip>
            <a:stretch>
              <a:fillRect/>
            </a:stretch>
          </a:blipFill>
        </p:spPr>
      </p:sp>
      <p:sp>
        <p:nvSpPr>
          <p:cNvPr id="9" name="Freeform 9"/>
          <p:cNvSpPr/>
          <p:nvPr/>
        </p:nvSpPr>
        <p:spPr>
          <a:xfrm>
            <a:off x="12060185" y="4558964"/>
            <a:ext cx="5391807" cy="4114800"/>
          </a:xfrm>
          <a:custGeom>
            <a:avLst/>
            <a:gdLst/>
            <a:ahLst/>
            <a:cxnLst/>
            <a:rect l="l" t="t" r="r" b="b"/>
            <a:pathLst>
              <a:path w="5391807" h="4114800">
                <a:moveTo>
                  <a:pt x="0" y="0"/>
                </a:moveTo>
                <a:lnTo>
                  <a:pt x="5391807" y="0"/>
                </a:lnTo>
                <a:lnTo>
                  <a:pt x="539180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0" name="Group 10"/>
          <p:cNvGrpSpPr/>
          <p:nvPr/>
        </p:nvGrpSpPr>
        <p:grpSpPr>
          <a:xfrm>
            <a:off x="572764" y="658254"/>
            <a:ext cx="9764864" cy="1275834"/>
            <a:chOff x="0" y="0"/>
            <a:chExt cx="2571816" cy="336022"/>
          </a:xfrm>
        </p:grpSpPr>
        <p:sp>
          <p:nvSpPr>
            <p:cNvPr id="11" name="Freeform 11"/>
            <p:cNvSpPr/>
            <p:nvPr/>
          </p:nvSpPr>
          <p:spPr>
            <a:xfrm>
              <a:off x="0" y="0"/>
              <a:ext cx="2571816" cy="336022"/>
            </a:xfrm>
            <a:custGeom>
              <a:avLst/>
              <a:gdLst/>
              <a:ahLst/>
              <a:cxnLst/>
              <a:rect l="l" t="t" r="r" b="b"/>
              <a:pathLst>
                <a:path w="2571816" h="336022">
                  <a:moveTo>
                    <a:pt x="0" y="0"/>
                  </a:moveTo>
                  <a:lnTo>
                    <a:pt x="2571816" y="0"/>
                  </a:lnTo>
                  <a:lnTo>
                    <a:pt x="2571816" y="336022"/>
                  </a:lnTo>
                  <a:lnTo>
                    <a:pt x="0" y="336022"/>
                  </a:lnTo>
                  <a:close/>
                </a:path>
              </a:pathLst>
            </a:custGeom>
            <a:solidFill>
              <a:srgbClr val="DDDEDE"/>
            </a:solidFill>
            <a:ln w="38100">
              <a:solidFill>
                <a:srgbClr val="F1F2F2"/>
              </a:solidFill>
            </a:ln>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961447" y="1005972"/>
            <a:ext cx="6795493" cy="813816"/>
          </a:xfrm>
          <a:prstGeom prst="rect">
            <a:avLst/>
          </a:prstGeom>
        </p:spPr>
        <p:txBody>
          <a:bodyPr lIns="0" tIns="0" rIns="0" bIns="0" rtlCol="0" anchor="t">
            <a:spAutoFit/>
          </a:bodyPr>
          <a:lstStyle/>
          <a:p>
            <a:pPr>
              <a:lnSpc>
                <a:spcPts val="5948"/>
              </a:lnSpc>
            </a:pPr>
            <a:r>
              <a:rPr lang="en-US" sz="6609">
                <a:solidFill>
                  <a:srgbClr val="0B2F3D"/>
                </a:solidFill>
                <a:latin typeface="Fredoka One"/>
              </a:rPr>
              <a:t>METHODOLOGY</a:t>
            </a:r>
          </a:p>
        </p:txBody>
      </p:sp>
      <p:sp>
        <p:nvSpPr>
          <p:cNvPr id="14" name="TextBox 14"/>
          <p:cNvSpPr txBox="1"/>
          <p:nvPr/>
        </p:nvSpPr>
        <p:spPr>
          <a:xfrm>
            <a:off x="572764" y="6358006"/>
            <a:ext cx="9764864" cy="1424941"/>
          </a:xfrm>
          <a:prstGeom prst="rect">
            <a:avLst/>
          </a:prstGeom>
        </p:spPr>
        <p:txBody>
          <a:bodyPr lIns="0" tIns="0" rIns="0" bIns="0" rtlCol="0" anchor="t">
            <a:spAutoFit/>
          </a:bodyPr>
          <a:lstStyle/>
          <a:p>
            <a:pPr marL="518157" lvl="1" indent="-259078" algn="just">
              <a:lnSpc>
                <a:spcPts val="3839"/>
              </a:lnSpc>
              <a:buFont typeface="Arial"/>
              <a:buChar char="•"/>
            </a:pPr>
            <a:r>
              <a:rPr lang="en-US" sz="2399">
                <a:solidFill>
                  <a:srgbClr val="727272"/>
                </a:solidFill>
                <a:latin typeface="Canva Sans"/>
              </a:rPr>
              <a:t>There would be no problem in the availability of participants and collection of sample size  as  there are many elderly to choose from to be a part of the sample population at present</a:t>
            </a:r>
          </a:p>
        </p:txBody>
      </p:sp>
      <p:sp>
        <p:nvSpPr>
          <p:cNvPr id="15" name="TextBox 15"/>
          <p:cNvSpPr txBox="1"/>
          <p:nvPr/>
        </p:nvSpPr>
        <p:spPr>
          <a:xfrm>
            <a:off x="2667000" y="2436355"/>
            <a:ext cx="6089940" cy="517129"/>
          </a:xfrm>
          <a:prstGeom prst="rect">
            <a:avLst/>
          </a:prstGeom>
        </p:spPr>
        <p:txBody>
          <a:bodyPr wrap="square" lIns="0" tIns="0" rIns="0" bIns="0" rtlCol="0" anchor="t">
            <a:spAutoFit/>
          </a:bodyPr>
          <a:lstStyle/>
          <a:p>
            <a:pPr algn="ctr">
              <a:lnSpc>
                <a:spcPts val="3999"/>
              </a:lnSpc>
            </a:pPr>
            <a:r>
              <a:rPr lang="en-US" sz="3999" dirty="0">
                <a:latin typeface="Canva Sans Bold"/>
              </a:rPr>
              <a:t>“Think Aloud Method”</a:t>
            </a:r>
          </a:p>
        </p:txBody>
      </p:sp>
      <p:sp>
        <p:nvSpPr>
          <p:cNvPr id="16" name="TextBox 16"/>
          <p:cNvSpPr txBox="1"/>
          <p:nvPr/>
        </p:nvSpPr>
        <p:spPr>
          <a:xfrm>
            <a:off x="572764" y="4145121"/>
            <a:ext cx="9764864" cy="1238250"/>
          </a:xfrm>
          <a:prstGeom prst="rect">
            <a:avLst/>
          </a:prstGeom>
        </p:spPr>
        <p:txBody>
          <a:bodyPr lIns="0" tIns="0" rIns="0" bIns="0" rtlCol="0" anchor="t">
            <a:spAutoFit/>
          </a:bodyPr>
          <a:lstStyle/>
          <a:p>
            <a:pPr marL="518160" lvl="1" indent="-259080" algn="just">
              <a:lnSpc>
                <a:spcPts val="3359"/>
              </a:lnSpc>
              <a:buFont typeface="Arial"/>
              <a:buChar char="•"/>
            </a:pPr>
            <a:r>
              <a:rPr lang="en-US" sz="2400">
                <a:solidFill>
                  <a:srgbClr val="727272"/>
                </a:solidFill>
                <a:latin typeface="Canva Sans"/>
              </a:rPr>
              <a:t>It provides important insight and it can present clearly how the system actually works by mere observation and a few questions. </a:t>
            </a:r>
          </a:p>
        </p:txBody>
      </p:sp>
      <p:sp>
        <p:nvSpPr>
          <p:cNvPr id="17" name="TextBox 17"/>
          <p:cNvSpPr txBox="1"/>
          <p:nvPr/>
        </p:nvSpPr>
        <p:spPr>
          <a:xfrm>
            <a:off x="572764" y="5650071"/>
            <a:ext cx="3630502" cy="406458"/>
          </a:xfrm>
          <a:prstGeom prst="rect">
            <a:avLst/>
          </a:prstGeom>
        </p:spPr>
        <p:txBody>
          <a:bodyPr wrap="square" lIns="0" tIns="0" rIns="0" bIns="0" rtlCol="0" anchor="t">
            <a:spAutoFit/>
          </a:bodyPr>
          <a:lstStyle/>
          <a:p>
            <a:pPr marL="518157" lvl="1" indent="-259078" algn="ctr">
              <a:lnSpc>
                <a:spcPts val="3359"/>
              </a:lnSpc>
              <a:buFont typeface="Arial"/>
              <a:buChar char="•"/>
            </a:pPr>
            <a:r>
              <a:rPr lang="en-US" sz="2399" dirty="0">
                <a:solidFill>
                  <a:srgbClr val="727272"/>
                </a:solidFill>
                <a:latin typeface="Canva Sans"/>
              </a:rPr>
              <a:t>It is a cheap process.</a:t>
            </a:r>
          </a:p>
        </p:txBody>
      </p:sp>
      <p:sp>
        <p:nvSpPr>
          <p:cNvPr id="18" name="TextBox 18"/>
          <p:cNvSpPr txBox="1"/>
          <p:nvPr/>
        </p:nvSpPr>
        <p:spPr>
          <a:xfrm>
            <a:off x="572764" y="3354546"/>
            <a:ext cx="9764864" cy="400050"/>
          </a:xfrm>
          <a:prstGeom prst="rect">
            <a:avLst/>
          </a:prstGeom>
        </p:spPr>
        <p:txBody>
          <a:bodyPr lIns="0" tIns="0" rIns="0" bIns="0" rtlCol="0" anchor="t">
            <a:spAutoFit/>
          </a:bodyPr>
          <a:lstStyle/>
          <a:p>
            <a:pPr marL="518160" lvl="1" indent="-259080" algn="just">
              <a:lnSpc>
                <a:spcPts val="3359"/>
              </a:lnSpc>
              <a:buFont typeface="Arial"/>
              <a:buChar char="•"/>
            </a:pPr>
            <a:r>
              <a:rPr lang="en-US" sz="2400">
                <a:solidFill>
                  <a:srgbClr val="727272"/>
                </a:solidFill>
                <a:latin typeface="Canva Sans"/>
              </a:rPr>
              <a:t>A simple method and it does not require so much expertise.</a:t>
            </a:r>
          </a:p>
        </p:txBody>
      </p:sp>
      <p:sp>
        <p:nvSpPr>
          <p:cNvPr id="19" name="TextBox 19"/>
          <p:cNvSpPr txBox="1"/>
          <p:nvPr/>
        </p:nvSpPr>
        <p:spPr>
          <a:xfrm>
            <a:off x="572764" y="8090831"/>
            <a:ext cx="9764864" cy="1424941"/>
          </a:xfrm>
          <a:prstGeom prst="rect">
            <a:avLst/>
          </a:prstGeom>
        </p:spPr>
        <p:txBody>
          <a:bodyPr lIns="0" tIns="0" rIns="0" bIns="0" rtlCol="0" anchor="t">
            <a:spAutoFit/>
          </a:bodyPr>
          <a:lstStyle/>
          <a:p>
            <a:pPr marL="518157" lvl="1" indent="-259078" algn="just">
              <a:lnSpc>
                <a:spcPts val="3839"/>
              </a:lnSpc>
              <a:buFont typeface="Arial"/>
              <a:buChar char="•"/>
            </a:pPr>
            <a:r>
              <a:rPr lang="en-US" sz="2399">
                <a:solidFill>
                  <a:srgbClr val="727272"/>
                </a:solidFill>
                <a:latin typeface="Canva Sans"/>
              </a:rPr>
              <a:t>The goal of the evaluation method is to assess the ability of the user to understand the tasks/messages given by the app and how well he could comply with them.</a:t>
            </a:r>
          </a:p>
        </p:txBody>
      </p:sp>
      <p:sp>
        <p:nvSpPr>
          <p:cNvPr id="20" name="Freeform 20"/>
          <p:cNvSpPr/>
          <p:nvPr/>
        </p:nvSpPr>
        <p:spPr>
          <a:xfrm>
            <a:off x="16281790" y="9040551"/>
            <a:ext cx="3395204" cy="1049427"/>
          </a:xfrm>
          <a:custGeom>
            <a:avLst/>
            <a:gdLst/>
            <a:ahLst/>
            <a:cxnLst/>
            <a:rect l="l" t="t" r="r" b="b"/>
            <a:pathLst>
              <a:path w="3395204" h="1049427">
                <a:moveTo>
                  <a:pt x="0" y="0"/>
                </a:moveTo>
                <a:lnTo>
                  <a:pt x="3395205" y="0"/>
                </a:lnTo>
                <a:lnTo>
                  <a:pt x="3395205" y="1049427"/>
                </a:lnTo>
                <a:lnTo>
                  <a:pt x="0" y="104942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892941"/>
            <a:ext cx="18288000" cy="1275834"/>
            <a:chOff x="0" y="0"/>
            <a:chExt cx="4816593" cy="336022"/>
          </a:xfrm>
        </p:grpSpPr>
        <p:sp>
          <p:nvSpPr>
            <p:cNvPr id="3" name="Freeform 3"/>
            <p:cNvSpPr/>
            <p:nvPr/>
          </p:nvSpPr>
          <p:spPr>
            <a:xfrm>
              <a:off x="0" y="0"/>
              <a:ext cx="4816592" cy="336022"/>
            </a:xfrm>
            <a:custGeom>
              <a:avLst/>
              <a:gdLst/>
              <a:ahLst/>
              <a:cxnLst/>
              <a:rect l="l" t="t" r="r" b="b"/>
              <a:pathLst>
                <a:path w="4816592" h="336022">
                  <a:moveTo>
                    <a:pt x="0" y="0"/>
                  </a:moveTo>
                  <a:lnTo>
                    <a:pt x="4816592" y="0"/>
                  </a:lnTo>
                  <a:lnTo>
                    <a:pt x="4816592" y="336022"/>
                  </a:lnTo>
                  <a:lnTo>
                    <a:pt x="0" y="336022"/>
                  </a:lnTo>
                  <a:close/>
                </a:path>
              </a:pathLst>
            </a:custGeom>
            <a:solidFill>
              <a:srgbClr val="DDDEDE"/>
            </a:solidFill>
            <a:ln w="38100">
              <a:solidFill>
                <a:srgbClr val="F1F2F2"/>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513498" y="846114"/>
            <a:ext cx="3630502" cy="3630502"/>
          </a:xfrm>
          <a:custGeom>
            <a:avLst/>
            <a:gdLst/>
            <a:ahLst/>
            <a:cxnLst/>
            <a:rect l="l" t="t" r="r" b="b"/>
            <a:pathLst>
              <a:path w="3630502" h="3630502">
                <a:moveTo>
                  <a:pt x="0" y="0"/>
                </a:moveTo>
                <a:lnTo>
                  <a:pt x="3630502" y="0"/>
                </a:lnTo>
                <a:lnTo>
                  <a:pt x="3630502" y="3630502"/>
                </a:lnTo>
                <a:lnTo>
                  <a:pt x="0" y="3630502"/>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sp>
      <p:sp>
        <p:nvSpPr>
          <p:cNvPr id="6" name="Freeform 6"/>
          <p:cNvSpPr/>
          <p:nvPr/>
        </p:nvSpPr>
        <p:spPr>
          <a:xfrm>
            <a:off x="4813506" y="2613607"/>
            <a:ext cx="2287222" cy="2287222"/>
          </a:xfrm>
          <a:custGeom>
            <a:avLst/>
            <a:gdLst/>
            <a:ahLst/>
            <a:cxnLst/>
            <a:rect l="l" t="t" r="r" b="b"/>
            <a:pathLst>
              <a:path w="2287222" h="2287222">
                <a:moveTo>
                  <a:pt x="0" y="0"/>
                </a:moveTo>
                <a:lnTo>
                  <a:pt x="2287222" y="0"/>
                </a:lnTo>
                <a:lnTo>
                  <a:pt x="2287222" y="2287222"/>
                </a:lnTo>
                <a:lnTo>
                  <a:pt x="0" y="2287222"/>
                </a:lnTo>
                <a:lnTo>
                  <a:pt x="0" y="0"/>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0" y="1247341"/>
            <a:ext cx="18288000" cy="813816"/>
          </a:xfrm>
          <a:prstGeom prst="rect">
            <a:avLst/>
          </a:prstGeom>
        </p:spPr>
        <p:txBody>
          <a:bodyPr lIns="0" tIns="0" rIns="0" bIns="0" rtlCol="0" anchor="t">
            <a:spAutoFit/>
          </a:bodyPr>
          <a:lstStyle/>
          <a:p>
            <a:pPr algn="ctr">
              <a:lnSpc>
                <a:spcPts val="5948"/>
              </a:lnSpc>
            </a:pPr>
            <a:r>
              <a:rPr lang="en-US" sz="6609">
                <a:solidFill>
                  <a:srgbClr val="0B2F3D"/>
                </a:solidFill>
                <a:latin typeface="Fredoka One"/>
              </a:rPr>
              <a:t>IMPLEMENTATION</a:t>
            </a:r>
          </a:p>
        </p:txBody>
      </p:sp>
      <p:grpSp>
        <p:nvGrpSpPr>
          <p:cNvPr id="8" name="Group 8"/>
          <p:cNvGrpSpPr/>
          <p:nvPr/>
        </p:nvGrpSpPr>
        <p:grpSpPr>
          <a:xfrm>
            <a:off x="239249" y="4350760"/>
            <a:ext cx="3922102" cy="5516579"/>
            <a:chOff x="0" y="0"/>
            <a:chExt cx="1032982" cy="1452926"/>
          </a:xfrm>
        </p:grpSpPr>
        <p:sp>
          <p:nvSpPr>
            <p:cNvPr id="9" name="Freeform 9"/>
            <p:cNvSpPr/>
            <p:nvPr/>
          </p:nvSpPr>
          <p:spPr>
            <a:xfrm>
              <a:off x="0" y="0"/>
              <a:ext cx="1032982" cy="1452926"/>
            </a:xfrm>
            <a:custGeom>
              <a:avLst/>
              <a:gdLst/>
              <a:ahLst/>
              <a:cxnLst/>
              <a:rect l="l" t="t" r="r" b="b"/>
              <a:pathLst>
                <a:path w="1032982" h="1452926">
                  <a:moveTo>
                    <a:pt x="100670" y="0"/>
                  </a:moveTo>
                  <a:lnTo>
                    <a:pt x="932312" y="0"/>
                  </a:lnTo>
                  <a:cubicBezTo>
                    <a:pt x="987910" y="0"/>
                    <a:pt x="1032982" y="45071"/>
                    <a:pt x="1032982" y="100670"/>
                  </a:cubicBezTo>
                  <a:lnTo>
                    <a:pt x="1032982" y="1352256"/>
                  </a:lnTo>
                  <a:cubicBezTo>
                    <a:pt x="1032982" y="1378955"/>
                    <a:pt x="1022375" y="1404561"/>
                    <a:pt x="1003496" y="1423441"/>
                  </a:cubicBezTo>
                  <a:cubicBezTo>
                    <a:pt x="984617" y="1442320"/>
                    <a:pt x="959011" y="1452926"/>
                    <a:pt x="932312" y="1452926"/>
                  </a:cubicBezTo>
                  <a:lnTo>
                    <a:pt x="100670" y="1452926"/>
                  </a:lnTo>
                  <a:cubicBezTo>
                    <a:pt x="45071" y="1452926"/>
                    <a:pt x="0" y="1407855"/>
                    <a:pt x="0" y="1352256"/>
                  </a:cubicBezTo>
                  <a:lnTo>
                    <a:pt x="0" y="100670"/>
                  </a:lnTo>
                  <a:cubicBezTo>
                    <a:pt x="0" y="73971"/>
                    <a:pt x="10606" y="48365"/>
                    <a:pt x="29486" y="29486"/>
                  </a:cubicBezTo>
                  <a:cubicBezTo>
                    <a:pt x="48365" y="10606"/>
                    <a:pt x="73971" y="0"/>
                    <a:pt x="100670" y="0"/>
                  </a:cubicBezTo>
                  <a:close/>
                </a:path>
              </a:pathLst>
            </a:custGeom>
            <a:solidFill>
              <a:srgbClr val="EFEFEF"/>
            </a:solidFill>
          </p:spPr>
        </p:sp>
        <p:sp>
          <p:nvSpPr>
            <p:cNvPr id="10" name="TextBox 10"/>
            <p:cNvSpPr txBox="1"/>
            <p:nvPr/>
          </p:nvSpPr>
          <p:spPr>
            <a:xfrm>
              <a:off x="0" y="28575"/>
              <a:ext cx="812800" cy="784225"/>
            </a:xfrm>
            <a:prstGeom prst="rect">
              <a:avLst/>
            </a:prstGeom>
          </p:spPr>
          <p:txBody>
            <a:bodyPr lIns="50800" tIns="50800" rIns="50800" bIns="50800" rtlCol="0" anchor="ctr"/>
            <a:lstStyle/>
            <a:p>
              <a:pPr algn="ctr">
                <a:lnSpc>
                  <a:spcPts val="1663"/>
                </a:lnSpc>
              </a:pPr>
              <a:endParaRPr/>
            </a:p>
          </p:txBody>
        </p:sp>
      </p:grpSp>
      <p:grpSp>
        <p:nvGrpSpPr>
          <p:cNvPr id="11" name="Group 11"/>
          <p:cNvGrpSpPr/>
          <p:nvPr/>
        </p:nvGrpSpPr>
        <p:grpSpPr>
          <a:xfrm>
            <a:off x="1402244" y="3493729"/>
            <a:ext cx="1625356" cy="1625356"/>
            <a:chOff x="0" y="0"/>
            <a:chExt cx="812800" cy="812800"/>
          </a:xfrm>
        </p:grpSpPr>
        <p:sp>
          <p:nvSpPr>
            <p:cNvPr id="12" name="Freeform 1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w="95250">
              <a:solidFill>
                <a:srgbClr val="545454"/>
              </a:solidFill>
            </a:ln>
          </p:spPr>
        </p:sp>
        <p:sp>
          <p:nvSpPr>
            <p:cNvPr id="13" name="TextBox 13"/>
            <p:cNvSpPr txBox="1"/>
            <p:nvPr/>
          </p:nvSpPr>
          <p:spPr>
            <a:xfrm>
              <a:off x="76200" y="95250"/>
              <a:ext cx="660400" cy="641350"/>
            </a:xfrm>
            <a:prstGeom prst="rect">
              <a:avLst/>
            </a:prstGeom>
          </p:spPr>
          <p:txBody>
            <a:bodyPr lIns="50800" tIns="50800" rIns="50800" bIns="50800" rtlCol="0" anchor="ctr"/>
            <a:lstStyle/>
            <a:p>
              <a:pPr algn="ctr">
                <a:lnSpc>
                  <a:spcPts val="1942"/>
                </a:lnSpc>
              </a:pPr>
              <a:endParaRPr/>
            </a:p>
          </p:txBody>
        </p:sp>
      </p:grpSp>
      <p:sp>
        <p:nvSpPr>
          <p:cNvPr id="14" name="TextBox 14"/>
          <p:cNvSpPr txBox="1"/>
          <p:nvPr/>
        </p:nvSpPr>
        <p:spPr>
          <a:xfrm>
            <a:off x="1495805" y="4070400"/>
            <a:ext cx="1438235" cy="614889"/>
          </a:xfrm>
          <a:prstGeom prst="rect">
            <a:avLst/>
          </a:prstGeom>
        </p:spPr>
        <p:txBody>
          <a:bodyPr lIns="0" tIns="0" rIns="0" bIns="0" rtlCol="0" anchor="t">
            <a:spAutoFit/>
          </a:bodyPr>
          <a:lstStyle/>
          <a:p>
            <a:pPr algn="ctr">
              <a:lnSpc>
                <a:spcPts val="4474"/>
              </a:lnSpc>
            </a:pPr>
            <a:r>
              <a:rPr lang="en-US" sz="4972">
                <a:solidFill>
                  <a:srgbClr val="0B2F3D"/>
                </a:solidFill>
                <a:latin typeface="Abril Fatface"/>
              </a:rPr>
              <a:t>01</a:t>
            </a:r>
          </a:p>
        </p:txBody>
      </p:sp>
      <p:grpSp>
        <p:nvGrpSpPr>
          <p:cNvPr id="15" name="Group 15"/>
          <p:cNvGrpSpPr/>
          <p:nvPr/>
        </p:nvGrpSpPr>
        <p:grpSpPr>
          <a:xfrm>
            <a:off x="4453226" y="4350760"/>
            <a:ext cx="4205151" cy="5516579"/>
            <a:chOff x="0" y="0"/>
            <a:chExt cx="1107529" cy="1452926"/>
          </a:xfrm>
        </p:grpSpPr>
        <p:sp>
          <p:nvSpPr>
            <p:cNvPr id="16" name="Freeform 16"/>
            <p:cNvSpPr/>
            <p:nvPr/>
          </p:nvSpPr>
          <p:spPr>
            <a:xfrm>
              <a:off x="0" y="0"/>
              <a:ext cx="1107529" cy="1452926"/>
            </a:xfrm>
            <a:custGeom>
              <a:avLst/>
              <a:gdLst/>
              <a:ahLst/>
              <a:cxnLst/>
              <a:rect l="l" t="t" r="r" b="b"/>
              <a:pathLst>
                <a:path w="1107529" h="1452926">
                  <a:moveTo>
                    <a:pt x="93894" y="0"/>
                  </a:moveTo>
                  <a:lnTo>
                    <a:pt x="1013636" y="0"/>
                  </a:lnTo>
                  <a:cubicBezTo>
                    <a:pt x="1038538" y="0"/>
                    <a:pt x="1062420" y="9892"/>
                    <a:pt x="1080029" y="27501"/>
                  </a:cubicBezTo>
                  <a:cubicBezTo>
                    <a:pt x="1097637" y="45109"/>
                    <a:pt x="1107529" y="68992"/>
                    <a:pt x="1107529" y="93894"/>
                  </a:cubicBezTo>
                  <a:lnTo>
                    <a:pt x="1107529" y="1359032"/>
                  </a:lnTo>
                  <a:cubicBezTo>
                    <a:pt x="1107529" y="1383934"/>
                    <a:pt x="1097637" y="1407817"/>
                    <a:pt x="1080029" y="1425425"/>
                  </a:cubicBezTo>
                  <a:cubicBezTo>
                    <a:pt x="1062420" y="1443034"/>
                    <a:pt x="1038538" y="1452926"/>
                    <a:pt x="1013636" y="1452926"/>
                  </a:cubicBezTo>
                  <a:lnTo>
                    <a:pt x="93894" y="1452926"/>
                  </a:lnTo>
                  <a:cubicBezTo>
                    <a:pt x="68992" y="1452926"/>
                    <a:pt x="45109" y="1443034"/>
                    <a:pt x="27501" y="1425425"/>
                  </a:cubicBezTo>
                  <a:cubicBezTo>
                    <a:pt x="9892" y="1407817"/>
                    <a:pt x="0" y="1383934"/>
                    <a:pt x="0" y="1359032"/>
                  </a:cubicBezTo>
                  <a:lnTo>
                    <a:pt x="0" y="93894"/>
                  </a:lnTo>
                  <a:cubicBezTo>
                    <a:pt x="0" y="68992"/>
                    <a:pt x="9892" y="45109"/>
                    <a:pt x="27501" y="27501"/>
                  </a:cubicBezTo>
                  <a:cubicBezTo>
                    <a:pt x="45109" y="9892"/>
                    <a:pt x="68992" y="0"/>
                    <a:pt x="93894" y="0"/>
                  </a:cubicBezTo>
                  <a:close/>
                </a:path>
              </a:pathLst>
            </a:custGeom>
            <a:solidFill>
              <a:srgbClr val="EFEFEF"/>
            </a:solidFill>
          </p:spPr>
        </p:sp>
        <p:sp>
          <p:nvSpPr>
            <p:cNvPr id="17" name="TextBox 17"/>
            <p:cNvSpPr txBox="1"/>
            <p:nvPr/>
          </p:nvSpPr>
          <p:spPr>
            <a:xfrm>
              <a:off x="0" y="28575"/>
              <a:ext cx="812800" cy="784225"/>
            </a:xfrm>
            <a:prstGeom prst="rect">
              <a:avLst/>
            </a:prstGeom>
          </p:spPr>
          <p:txBody>
            <a:bodyPr lIns="50800" tIns="50800" rIns="50800" bIns="50800" rtlCol="0" anchor="ctr"/>
            <a:lstStyle/>
            <a:p>
              <a:pPr algn="ctr">
                <a:lnSpc>
                  <a:spcPts val="1663"/>
                </a:lnSpc>
              </a:pPr>
              <a:endParaRPr/>
            </a:p>
          </p:txBody>
        </p:sp>
      </p:grpSp>
      <p:grpSp>
        <p:nvGrpSpPr>
          <p:cNvPr id="18" name="Group 18"/>
          <p:cNvGrpSpPr/>
          <p:nvPr/>
        </p:nvGrpSpPr>
        <p:grpSpPr>
          <a:xfrm>
            <a:off x="5798159" y="3493729"/>
            <a:ext cx="1625356" cy="1625356"/>
            <a:chOff x="0" y="0"/>
            <a:chExt cx="812800" cy="812800"/>
          </a:xfrm>
        </p:grpSpPr>
        <p:sp>
          <p:nvSpPr>
            <p:cNvPr id="19" name="Freeform 1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w="95250">
              <a:solidFill>
                <a:srgbClr val="545454"/>
              </a:solidFill>
            </a:ln>
          </p:spPr>
        </p:sp>
        <p:sp>
          <p:nvSpPr>
            <p:cNvPr id="20" name="TextBox 20"/>
            <p:cNvSpPr txBox="1"/>
            <p:nvPr/>
          </p:nvSpPr>
          <p:spPr>
            <a:xfrm>
              <a:off x="76200" y="95250"/>
              <a:ext cx="660400" cy="641350"/>
            </a:xfrm>
            <a:prstGeom prst="rect">
              <a:avLst/>
            </a:prstGeom>
          </p:spPr>
          <p:txBody>
            <a:bodyPr lIns="50800" tIns="50800" rIns="50800" bIns="50800" rtlCol="0" anchor="ctr"/>
            <a:lstStyle/>
            <a:p>
              <a:pPr algn="ctr">
                <a:lnSpc>
                  <a:spcPts val="1942"/>
                </a:lnSpc>
              </a:pPr>
              <a:endParaRPr/>
            </a:p>
          </p:txBody>
        </p:sp>
      </p:grpSp>
      <p:sp>
        <p:nvSpPr>
          <p:cNvPr id="21" name="TextBox 21"/>
          <p:cNvSpPr txBox="1"/>
          <p:nvPr/>
        </p:nvSpPr>
        <p:spPr>
          <a:xfrm>
            <a:off x="5836683" y="4070400"/>
            <a:ext cx="1438235" cy="614889"/>
          </a:xfrm>
          <a:prstGeom prst="rect">
            <a:avLst/>
          </a:prstGeom>
        </p:spPr>
        <p:txBody>
          <a:bodyPr lIns="0" tIns="0" rIns="0" bIns="0" rtlCol="0" anchor="t">
            <a:spAutoFit/>
          </a:bodyPr>
          <a:lstStyle/>
          <a:p>
            <a:pPr algn="ctr">
              <a:lnSpc>
                <a:spcPts val="4474"/>
              </a:lnSpc>
            </a:pPr>
            <a:r>
              <a:rPr lang="en-US" sz="4972">
                <a:solidFill>
                  <a:srgbClr val="0B2F3D"/>
                </a:solidFill>
                <a:latin typeface="Abril Fatface"/>
              </a:rPr>
              <a:t>02</a:t>
            </a:r>
          </a:p>
        </p:txBody>
      </p:sp>
      <p:sp>
        <p:nvSpPr>
          <p:cNvPr id="22" name="TextBox 22"/>
          <p:cNvSpPr txBox="1"/>
          <p:nvPr/>
        </p:nvSpPr>
        <p:spPr>
          <a:xfrm>
            <a:off x="12858882" y="5352027"/>
            <a:ext cx="3586020" cy="1752602"/>
          </a:xfrm>
          <a:prstGeom prst="rect">
            <a:avLst/>
          </a:prstGeom>
        </p:spPr>
        <p:txBody>
          <a:bodyPr lIns="0" tIns="0" rIns="0" bIns="0" rtlCol="0" anchor="t">
            <a:spAutoFit/>
          </a:bodyPr>
          <a:lstStyle/>
          <a:p>
            <a:pPr algn="ctr">
              <a:lnSpc>
                <a:spcPts val="4799"/>
              </a:lnSpc>
            </a:pPr>
            <a:r>
              <a:rPr lang="en-US" sz="2999">
                <a:solidFill>
                  <a:srgbClr val="FFFFFF"/>
                </a:solidFill>
                <a:latin typeface="Canva Sans"/>
              </a:rPr>
              <a:t>She has to describe what she thinks is happening</a:t>
            </a:r>
          </a:p>
        </p:txBody>
      </p:sp>
      <p:sp>
        <p:nvSpPr>
          <p:cNvPr id="23" name="TextBox 23"/>
          <p:cNvSpPr txBox="1"/>
          <p:nvPr/>
        </p:nvSpPr>
        <p:spPr>
          <a:xfrm>
            <a:off x="532664" y="5421561"/>
            <a:ext cx="3234761" cy="3328035"/>
          </a:xfrm>
          <a:prstGeom prst="rect">
            <a:avLst/>
          </a:prstGeom>
        </p:spPr>
        <p:txBody>
          <a:bodyPr lIns="0" tIns="0" rIns="0" bIns="0" rtlCol="0" anchor="t">
            <a:spAutoFit/>
          </a:bodyPr>
          <a:lstStyle/>
          <a:p>
            <a:pPr algn="ctr">
              <a:lnSpc>
                <a:spcPts val="2939"/>
              </a:lnSpc>
              <a:spcBef>
                <a:spcPct val="0"/>
              </a:spcBef>
            </a:pPr>
            <a:r>
              <a:rPr lang="en-US" sz="2099">
                <a:solidFill>
                  <a:srgbClr val="545454"/>
                </a:solidFill>
                <a:latin typeface="Canva Sans"/>
              </a:rPr>
              <a:t>The tasks that users are required to do are presented on the interface in big letters, big and familiar fonts, and colors used are not glaring so as not to hurt the elderly’s eyes or poor vision.</a:t>
            </a:r>
          </a:p>
        </p:txBody>
      </p:sp>
      <p:sp>
        <p:nvSpPr>
          <p:cNvPr id="24" name="TextBox 24"/>
          <p:cNvSpPr txBox="1"/>
          <p:nvPr/>
        </p:nvSpPr>
        <p:spPr>
          <a:xfrm>
            <a:off x="4585771" y="5442936"/>
            <a:ext cx="3922102" cy="727710"/>
          </a:xfrm>
          <a:prstGeom prst="rect">
            <a:avLst/>
          </a:prstGeom>
        </p:spPr>
        <p:txBody>
          <a:bodyPr lIns="0" tIns="0" rIns="0" bIns="0" rtlCol="0" anchor="t">
            <a:spAutoFit/>
          </a:bodyPr>
          <a:lstStyle/>
          <a:p>
            <a:pPr>
              <a:lnSpc>
                <a:spcPts val="2939"/>
              </a:lnSpc>
              <a:spcBef>
                <a:spcPct val="0"/>
              </a:spcBef>
            </a:pPr>
            <a:r>
              <a:rPr lang="en-US" sz="2099">
                <a:solidFill>
                  <a:srgbClr val="545454"/>
                </a:solidFill>
                <a:latin typeface="Canva Sans"/>
              </a:rPr>
              <a:t>While the user is doing her task, she is being observed.</a:t>
            </a:r>
          </a:p>
        </p:txBody>
      </p:sp>
      <p:grpSp>
        <p:nvGrpSpPr>
          <p:cNvPr id="25" name="Group 25"/>
          <p:cNvGrpSpPr/>
          <p:nvPr/>
        </p:nvGrpSpPr>
        <p:grpSpPr>
          <a:xfrm>
            <a:off x="9060323" y="4350760"/>
            <a:ext cx="4205151" cy="5516579"/>
            <a:chOff x="0" y="0"/>
            <a:chExt cx="1107529" cy="1452926"/>
          </a:xfrm>
        </p:grpSpPr>
        <p:sp>
          <p:nvSpPr>
            <p:cNvPr id="26" name="Freeform 26"/>
            <p:cNvSpPr/>
            <p:nvPr/>
          </p:nvSpPr>
          <p:spPr>
            <a:xfrm>
              <a:off x="0" y="0"/>
              <a:ext cx="1107529" cy="1452926"/>
            </a:xfrm>
            <a:custGeom>
              <a:avLst/>
              <a:gdLst/>
              <a:ahLst/>
              <a:cxnLst/>
              <a:rect l="l" t="t" r="r" b="b"/>
              <a:pathLst>
                <a:path w="1107529" h="1452926">
                  <a:moveTo>
                    <a:pt x="93894" y="0"/>
                  </a:moveTo>
                  <a:lnTo>
                    <a:pt x="1013636" y="0"/>
                  </a:lnTo>
                  <a:cubicBezTo>
                    <a:pt x="1038538" y="0"/>
                    <a:pt x="1062420" y="9892"/>
                    <a:pt x="1080029" y="27501"/>
                  </a:cubicBezTo>
                  <a:cubicBezTo>
                    <a:pt x="1097637" y="45109"/>
                    <a:pt x="1107529" y="68992"/>
                    <a:pt x="1107529" y="93894"/>
                  </a:cubicBezTo>
                  <a:lnTo>
                    <a:pt x="1107529" y="1359032"/>
                  </a:lnTo>
                  <a:cubicBezTo>
                    <a:pt x="1107529" y="1383934"/>
                    <a:pt x="1097637" y="1407817"/>
                    <a:pt x="1080029" y="1425425"/>
                  </a:cubicBezTo>
                  <a:cubicBezTo>
                    <a:pt x="1062420" y="1443034"/>
                    <a:pt x="1038538" y="1452926"/>
                    <a:pt x="1013636" y="1452926"/>
                  </a:cubicBezTo>
                  <a:lnTo>
                    <a:pt x="93894" y="1452926"/>
                  </a:lnTo>
                  <a:cubicBezTo>
                    <a:pt x="68992" y="1452926"/>
                    <a:pt x="45109" y="1443034"/>
                    <a:pt x="27501" y="1425425"/>
                  </a:cubicBezTo>
                  <a:cubicBezTo>
                    <a:pt x="9892" y="1407817"/>
                    <a:pt x="0" y="1383934"/>
                    <a:pt x="0" y="1359032"/>
                  </a:cubicBezTo>
                  <a:lnTo>
                    <a:pt x="0" y="93894"/>
                  </a:lnTo>
                  <a:cubicBezTo>
                    <a:pt x="0" y="68992"/>
                    <a:pt x="9892" y="45109"/>
                    <a:pt x="27501" y="27501"/>
                  </a:cubicBezTo>
                  <a:cubicBezTo>
                    <a:pt x="45109" y="9892"/>
                    <a:pt x="68992" y="0"/>
                    <a:pt x="93894" y="0"/>
                  </a:cubicBezTo>
                  <a:close/>
                </a:path>
              </a:pathLst>
            </a:custGeom>
            <a:solidFill>
              <a:srgbClr val="EFEFEF"/>
            </a:solidFill>
          </p:spPr>
        </p:sp>
        <p:sp>
          <p:nvSpPr>
            <p:cNvPr id="27" name="TextBox 27"/>
            <p:cNvSpPr txBox="1"/>
            <p:nvPr/>
          </p:nvSpPr>
          <p:spPr>
            <a:xfrm>
              <a:off x="0" y="28575"/>
              <a:ext cx="812800" cy="784225"/>
            </a:xfrm>
            <a:prstGeom prst="rect">
              <a:avLst/>
            </a:prstGeom>
          </p:spPr>
          <p:txBody>
            <a:bodyPr lIns="50800" tIns="50800" rIns="50800" bIns="50800" rtlCol="0" anchor="ctr"/>
            <a:lstStyle/>
            <a:p>
              <a:pPr algn="ctr">
                <a:lnSpc>
                  <a:spcPts val="1663"/>
                </a:lnSpc>
              </a:pPr>
              <a:endParaRPr/>
            </a:p>
          </p:txBody>
        </p:sp>
      </p:grpSp>
      <p:grpSp>
        <p:nvGrpSpPr>
          <p:cNvPr id="28" name="Group 28"/>
          <p:cNvGrpSpPr/>
          <p:nvPr/>
        </p:nvGrpSpPr>
        <p:grpSpPr>
          <a:xfrm>
            <a:off x="13667420" y="4350760"/>
            <a:ext cx="4205151" cy="5516579"/>
            <a:chOff x="0" y="0"/>
            <a:chExt cx="1107529" cy="1452926"/>
          </a:xfrm>
        </p:grpSpPr>
        <p:sp>
          <p:nvSpPr>
            <p:cNvPr id="29" name="Freeform 29"/>
            <p:cNvSpPr/>
            <p:nvPr/>
          </p:nvSpPr>
          <p:spPr>
            <a:xfrm>
              <a:off x="0" y="0"/>
              <a:ext cx="1107529" cy="1452926"/>
            </a:xfrm>
            <a:custGeom>
              <a:avLst/>
              <a:gdLst/>
              <a:ahLst/>
              <a:cxnLst/>
              <a:rect l="l" t="t" r="r" b="b"/>
              <a:pathLst>
                <a:path w="1107529" h="1452926">
                  <a:moveTo>
                    <a:pt x="93894" y="0"/>
                  </a:moveTo>
                  <a:lnTo>
                    <a:pt x="1013636" y="0"/>
                  </a:lnTo>
                  <a:cubicBezTo>
                    <a:pt x="1038538" y="0"/>
                    <a:pt x="1062420" y="9892"/>
                    <a:pt x="1080029" y="27501"/>
                  </a:cubicBezTo>
                  <a:cubicBezTo>
                    <a:pt x="1097637" y="45109"/>
                    <a:pt x="1107529" y="68992"/>
                    <a:pt x="1107529" y="93894"/>
                  </a:cubicBezTo>
                  <a:lnTo>
                    <a:pt x="1107529" y="1359032"/>
                  </a:lnTo>
                  <a:cubicBezTo>
                    <a:pt x="1107529" y="1383934"/>
                    <a:pt x="1097637" y="1407817"/>
                    <a:pt x="1080029" y="1425425"/>
                  </a:cubicBezTo>
                  <a:cubicBezTo>
                    <a:pt x="1062420" y="1443034"/>
                    <a:pt x="1038538" y="1452926"/>
                    <a:pt x="1013636" y="1452926"/>
                  </a:cubicBezTo>
                  <a:lnTo>
                    <a:pt x="93894" y="1452926"/>
                  </a:lnTo>
                  <a:cubicBezTo>
                    <a:pt x="68992" y="1452926"/>
                    <a:pt x="45109" y="1443034"/>
                    <a:pt x="27501" y="1425425"/>
                  </a:cubicBezTo>
                  <a:cubicBezTo>
                    <a:pt x="9892" y="1407817"/>
                    <a:pt x="0" y="1383934"/>
                    <a:pt x="0" y="1359032"/>
                  </a:cubicBezTo>
                  <a:lnTo>
                    <a:pt x="0" y="93894"/>
                  </a:lnTo>
                  <a:cubicBezTo>
                    <a:pt x="0" y="68992"/>
                    <a:pt x="9892" y="45109"/>
                    <a:pt x="27501" y="27501"/>
                  </a:cubicBezTo>
                  <a:cubicBezTo>
                    <a:pt x="45109" y="9892"/>
                    <a:pt x="68992" y="0"/>
                    <a:pt x="93894" y="0"/>
                  </a:cubicBezTo>
                  <a:close/>
                </a:path>
              </a:pathLst>
            </a:custGeom>
            <a:solidFill>
              <a:srgbClr val="EFEFEF"/>
            </a:solidFill>
          </p:spPr>
        </p:sp>
        <p:sp>
          <p:nvSpPr>
            <p:cNvPr id="30" name="TextBox 30"/>
            <p:cNvSpPr txBox="1"/>
            <p:nvPr/>
          </p:nvSpPr>
          <p:spPr>
            <a:xfrm>
              <a:off x="0" y="28575"/>
              <a:ext cx="812800" cy="784225"/>
            </a:xfrm>
            <a:prstGeom prst="rect">
              <a:avLst/>
            </a:prstGeom>
          </p:spPr>
          <p:txBody>
            <a:bodyPr lIns="50800" tIns="50800" rIns="50800" bIns="50800" rtlCol="0" anchor="ctr"/>
            <a:lstStyle/>
            <a:p>
              <a:pPr algn="ctr">
                <a:lnSpc>
                  <a:spcPts val="1663"/>
                </a:lnSpc>
              </a:pPr>
              <a:endParaRPr/>
            </a:p>
          </p:txBody>
        </p:sp>
      </p:grpSp>
      <p:sp>
        <p:nvSpPr>
          <p:cNvPr id="31" name="TextBox 31"/>
          <p:cNvSpPr txBox="1"/>
          <p:nvPr/>
        </p:nvSpPr>
        <p:spPr>
          <a:xfrm>
            <a:off x="9283015" y="5466327"/>
            <a:ext cx="3922102" cy="1099185"/>
          </a:xfrm>
          <a:prstGeom prst="rect">
            <a:avLst/>
          </a:prstGeom>
        </p:spPr>
        <p:txBody>
          <a:bodyPr lIns="0" tIns="0" rIns="0" bIns="0" rtlCol="0" anchor="t">
            <a:spAutoFit/>
          </a:bodyPr>
          <a:lstStyle/>
          <a:p>
            <a:pPr algn="ctr">
              <a:lnSpc>
                <a:spcPts val="2939"/>
              </a:lnSpc>
              <a:spcBef>
                <a:spcPct val="0"/>
              </a:spcBef>
            </a:pPr>
            <a:r>
              <a:rPr lang="en-US" sz="2099">
                <a:solidFill>
                  <a:srgbClr val="545454"/>
                </a:solidFill>
                <a:latin typeface="Canva Sans"/>
              </a:rPr>
              <a:t>She is asked to explain what she is doing and the reason why she is doing such tasks.</a:t>
            </a:r>
          </a:p>
        </p:txBody>
      </p:sp>
      <p:grpSp>
        <p:nvGrpSpPr>
          <p:cNvPr id="32" name="Group 32"/>
          <p:cNvGrpSpPr/>
          <p:nvPr/>
        </p:nvGrpSpPr>
        <p:grpSpPr>
          <a:xfrm>
            <a:off x="10292373" y="3538082"/>
            <a:ext cx="1625356" cy="1625356"/>
            <a:chOff x="0" y="0"/>
            <a:chExt cx="812800" cy="812800"/>
          </a:xfrm>
        </p:grpSpPr>
        <p:sp>
          <p:nvSpPr>
            <p:cNvPr id="33" name="Freeform 3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w="95250">
              <a:solidFill>
                <a:srgbClr val="545454"/>
              </a:solidFill>
            </a:ln>
          </p:spPr>
        </p:sp>
        <p:sp>
          <p:nvSpPr>
            <p:cNvPr id="34" name="TextBox 34"/>
            <p:cNvSpPr txBox="1"/>
            <p:nvPr/>
          </p:nvSpPr>
          <p:spPr>
            <a:xfrm>
              <a:off x="76200" y="95250"/>
              <a:ext cx="660400" cy="641350"/>
            </a:xfrm>
            <a:prstGeom prst="rect">
              <a:avLst/>
            </a:prstGeom>
          </p:spPr>
          <p:txBody>
            <a:bodyPr lIns="50800" tIns="50800" rIns="50800" bIns="50800" rtlCol="0" anchor="ctr"/>
            <a:lstStyle/>
            <a:p>
              <a:pPr algn="ctr">
                <a:lnSpc>
                  <a:spcPts val="1942"/>
                </a:lnSpc>
              </a:pPr>
              <a:endParaRPr/>
            </a:p>
          </p:txBody>
        </p:sp>
      </p:grpSp>
      <p:grpSp>
        <p:nvGrpSpPr>
          <p:cNvPr id="35" name="Group 35"/>
          <p:cNvGrpSpPr/>
          <p:nvPr/>
        </p:nvGrpSpPr>
        <p:grpSpPr>
          <a:xfrm>
            <a:off x="14903774" y="3518144"/>
            <a:ext cx="1625356" cy="1625356"/>
            <a:chOff x="0" y="0"/>
            <a:chExt cx="812800" cy="812800"/>
          </a:xfrm>
        </p:grpSpPr>
        <p:sp>
          <p:nvSpPr>
            <p:cNvPr id="36" name="Freeform 3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FFFF"/>
            </a:solidFill>
            <a:ln w="95250">
              <a:solidFill>
                <a:srgbClr val="545454"/>
              </a:solidFill>
            </a:ln>
          </p:spPr>
        </p:sp>
        <p:sp>
          <p:nvSpPr>
            <p:cNvPr id="37" name="TextBox 37"/>
            <p:cNvSpPr txBox="1"/>
            <p:nvPr/>
          </p:nvSpPr>
          <p:spPr>
            <a:xfrm>
              <a:off x="76200" y="95250"/>
              <a:ext cx="660400" cy="641350"/>
            </a:xfrm>
            <a:prstGeom prst="rect">
              <a:avLst/>
            </a:prstGeom>
          </p:spPr>
          <p:txBody>
            <a:bodyPr lIns="50800" tIns="50800" rIns="50800" bIns="50800" rtlCol="0" anchor="ctr"/>
            <a:lstStyle/>
            <a:p>
              <a:pPr algn="ctr">
                <a:lnSpc>
                  <a:spcPts val="1942"/>
                </a:lnSpc>
              </a:pPr>
              <a:endParaRPr/>
            </a:p>
          </p:txBody>
        </p:sp>
      </p:grpSp>
      <p:sp>
        <p:nvSpPr>
          <p:cNvPr id="38" name="TextBox 38"/>
          <p:cNvSpPr txBox="1"/>
          <p:nvPr/>
        </p:nvSpPr>
        <p:spPr>
          <a:xfrm>
            <a:off x="10292373" y="4070400"/>
            <a:ext cx="1438235" cy="614889"/>
          </a:xfrm>
          <a:prstGeom prst="rect">
            <a:avLst/>
          </a:prstGeom>
        </p:spPr>
        <p:txBody>
          <a:bodyPr lIns="0" tIns="0" rIns="0" bIns="0" rtlCol="0" anchor="t">
            <a:spAutoFit/>
          </a:bodyPr>
          <a:lstStyle/>
          <a:p>
            <a:pPr algn="ctr">
              <a:lnSpc>
                <a:spcPts val="4474"/>
              </a:lnSpc>
            </a:pPr>
            <a:r>
              <a:rPr lang="en-US" sz="4972">
                <a:solidFill>
                  <a:srgbClr val="0B2F3D"/>
                </a:solidFill>
                <a:latin typeface="Abril Fatface"/>
              </a:rPr>
              <a:t>03</a:t>
            </a:r>
          </a:p>
        </p:txBody>
      </p:sp>
      <p:sp>
        <p:nvSpPr>
          <p:cNvPr id="39" name="TextBox 39"/>
          <p:cNvSpPr txBox="1"/>
          <p:nvPr/>
        </p:nvSpPr>
        <p:spPr>
          <a:xfrm>
            <a:off x="14941874" y="4070400"/>
            <a:ext cx="1438235" cy="614889"/>
          </a:xfrm>
          <a:prstGeom prst="rect">
            <a:avLst/>
          </a:prstGeom>
        </p:spPr>
        <p:txBody>
          <a:bodyPr lIns="0" tIns="0" rIns="0" bIns="0" rtlCol="0" anchor="t">
            <a:spAutoFit/>
          </a:bodyPr>
          <a:lstStyle/>
          <a:p>
            <a:pPr algn="ctr">
              <a:lnSpc>
                <a:spcPts val="4474"/>
              </a:lnSpc>
            </a:pPr>
            <a:r>
              <a:rPr lang="en-US" sz="4972">
                <a:solidFill>
                  <a:srgbClr val="0B2F3D"/>
                </a:solidFill>
                <a:latin typeface="Abril Fatface"/>
              </a:rPr>
              <a:t>04</a:t>
            </a:r>
          </a:p>
        </p:txBody>
      </p:sp>
      <p:sp>
        <p:nvSpPr>
          <p:cNvPr id="40" name="TextBox 40"/>
          <p:cNvSpPr txBox="1"/>
          <p:nvPr/>
        </p:nvSpPr>
        <p:spPr>
          <a:xfrm>
            <a:off x="13755401" y="5466327"/>
            <a:ext cx="3922102" cy="727710"/>
          </a:xfrm>
          <a:prstGeom prst="rect">
            <a:avLst/>
          </a:prstGeom>
        </p:spPr>
        <p:txBody>
          <a:bodyPr lIns="0" tIns="0" rIns="0" bIns="0" rtlCol="0" anchor="t">
            <a:spAutoFit/>
          </a:bodyPr>
          <a:lstStyle/>
          <a:p>
            <a:pPr algn="ctr">
              <a:lnSpc>
                <a:spcPts val="2939"/>
              </a:lnSpc>
              <a:spcBef>
                <a:spcPct val="0"/>
              </a:spcBef>
            </a:pPr>
            <a:r>
              <a:rPr lang="en-US" sz="2099">
                <a:solidFill>
                  <a:srgbClr val="545454"/>
                </a:solidFill>
                <a:latin typeface="Canva Sans"/>
              </a:rPr>
              <a:t>She has to describe what she thinks is happening.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4128" y="658254"/>
            <a:ext cx="6905484" cy="1275834"/>
            <a:chOff x="0" y="0"/>
            <a:chExt cx="1818728" cy="336022"/>
          </a:xfrm>
        </p:grpSpPr>
        <p:sp>
          <p:nvSpPr>
            <p:cNvPr id="3" name="Freeform 3"/>
            <p:cNvSpPr/>
            <p:nvPr/>
          </p:nvSpPr>
          <p:spPr>
            <a:xfrm>
              <a:off x="0" y="0"/>
              <a:ext cx="1818728" cy="336022"/>
            </a:xfrm>
            <a:custGeom>
              <a:avLst/>
              <a:gdLst/>
              <a:ahLst/>
              <a:cxnLst/>
              <a:rect l="l" t="t" r="r" b="b"/>
              <a:pathLst>
                <a:path w="1818728" h="336022">
                  <a:moveTo>
                    <a:pt x="0" y="0"/>
                  </a:moveTo>
                  <a:lnTo>
                    <a:pt x="1818728" y="0"/>
                  </a:lnTo>
                  <a:lnTo>
                    <a:pt x="1818728" y="336022"/>
                  </a:lnTo>
                  <a:lnTo>
                    <a:pt x="0" y="336022"/>
                  </a:lnTo>
                  <a:close/>
                </a:path>
              </a:pathLst>
            </a:custGeom>
            <a:solidFill>
              <a:srgbClr val="DDDEDE"/>
            </a:solidFill>
            <a:ln w="38100">
              <a:solidFill>
                <a:srgbClr val="F1F2F2"/>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811965" y="1657315"/>
            <a:ext cx="3630502" cy="3630502"/>
          </a:xfrm>
          <a:custGeom>
            <a:avLst/>
            <a:gdLst/>
            <a:ahLst/>
            <a:cxnLst/>
            <a:rect l="l" t="t" r="r" b="b"/>
            <a:pathLst>
              <a:path w="3630502" h="3630502">
                <a:moveTo>
                  <a:pt x="0" y="0"/>
                </a:moveTo>
                <a:lnTo>
                  <a:pt x="3630502" y="0"/>
                </a:lnTo>
                <a:lnTo>
                  <a:pt x="3630502" y="3630502"/>
                </a:lnTo>
                <a:lnTo>
                  <a:pt x="0" y="3630502"/>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sp>
      <p:sp>
        <p:nvSpPr>
          <p:cNvPr id="6" name="Freeform 6"/>
          <p:cNvSpPr/>
          <p:nvPr/>
        </p:nvSpPr>
        <p:spPr>
          <a:xfrm>
            <a:off x="3111973" y="3424808"/>
            <a:ext cx="2287222" cy="2287222"/>
          </a:xfrm>
          <a:custGeom>
            <a:avLst/>
            <a:gdLst/>
            <a:ahLst/>
            <a:cxnLst/>
            <a:rect l="l" t="t" r="r" b="b"/>
            <a:pathLst>
              <a:path w="2287222" h="2287222">
                <a:moveTo>
                  <a:pt x="0" y="0"/>
                </a:moveTo>
                <a:lnTo>
                  <a:pt x="2287222" y="0"/>
                </a:lnTo>
                <a:lnTo>
                  <a:pt x="2287222" y="2287222"/>
                </a:lnTo>
                <a:lnTo>
                  <a:pt x="0" y="2287222"/>
                </a:lnTo>
                <a:lnTo>
                  <a:pt x="0" y="0"/>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sp>
        <p:nvSpPr>
          <p:cNvPr id="7" name="Freeform 7"/>
          <p:cNvSpPr/>
          <p:nvPr/>
        </p:nvSpPr>
        <p:spPr>
          <a:xfrm>
            <a:off x="10476809" y="2691798"/>
            <a:ext cx="6148055" cy="6040464"/>
          </a:xfrm>
          <a:custGeom>
            <a:avLst/>
            <a:gdLst/>
            <a:ahLst/>
            <a:cxnLst/>
            <a:rect l="l" t="t" r="r" b="b"/>
            <a:pathLst>
              <a:path w="6148055" h="6040464">
                <a:moveTo>
                  <a:pt x="0" y="0"/>
                </a:moveTo>
                <a:lnTo>
                  <a:pt x="6148055" y="0"/>
                </a:lnTo>
                <a:lnTo>
                  <a:pt x="6148055" y="6040463"/>
                </a:lnTo>
                <a:lnTo>
                  <a:pt x="0" y="60404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111973" y="1006538"/>
            <a:ext cx="4095331" cy="813816"/>
          </a:xfrm>
          <a:prstGeom prst="rect">
            <a:avLst/>
          </a:prstGeom>
        </p:spPr>
        <p:txBody>
          <a:bodyPr lIns="0" tIns="0" rIns="0" bIns="0" rtlCol="0" anchor="t">
            <a:spAutoFit/>
          </a:bodyPr>
          <a:lstStyle/>
          <a:p>
            <a:pPr>
              <a:lnSpc>
                <a:spcPts val="5948"/>
              </a:lnSpc>
            </a:pPr>
            <a:r>
              <a:rPr lang="en-US" sz="6609" dirty="0">
                <a:solidFill>
                  <a:srgbClr val="000000"/>
                </a:solidFill>
                <a:latin typeface="Fredoka One"/>
              </a:rPr>
              <a:t>RESULT</a:t>
            </a:r>
          </a:p>
        </p:txBody>
      </p:sp>
      <p:sp>
        <p:nvSpPr>
          <p:cNvPr id="9" name="TextBox 9"/>
          <p:cNvSpPr txBox="1"/>
          <p:nvPr/>
        </p:nvSpPr>
        <p:spPr>
          <a:xfrm>
            <a:off x="1189378" y="6483350"/>
            <a:ext cx="6810905" cy="2774950"/>
          </a:xfrm>
          <a:prstGeom prst="rect">
            <a:avLst/>
          </a:prstGeom>
        </p:spPr>
        <p:txBody>
          <a:bodyPr lIns="0" tIns="0" rIns="0" bIns="0" rtlCol="0" anchor="t">
            <a:spAutoFit/>
          </a:bodyPr>
          <a:lstStyle/>
          <a:p>
            <a:pPr marL="431799" lvl="1" indent="-215899" algn="just">
              <a:lnSpc>
                <a:spcPts val="3199"/>
              </a:lnSpc>
              <a:buFont typeface="Arial"/>
              <a:buChar char="•"/>
            </a:pPr>
            <a:r>
              <a:rPr lang="en-US" sz="1999">
                <a:solidFill>
                  <a:srgbClr val="000000"/>
                </a:solidFill>
                <a:latin typeface="Canva Sans"/>
              </a:rPr>
              <a:t>Compared with other off-the shelf products, the Wide Awake app </a:t>
            </a:r>
            <a:r>
              <a:rPr lang="en-US" sz="1999">
                <a:solidFill>
                  <a:srgbClr val="000000"/>
                </a:solidFill>
                <a:latin typeface="Canva Sans Bold"/>
              </a:rPr>
              <a:t>can compete</a:t>
            </a:r>
            <a:r>
              <a:rPr lang="en-US" sz="1999">
                <a:solidFill>
                  <a:srgbClr val="000000"/>
                </a:solidFill>
                <a:latin typeface="Canva Sans"/>
              </a:rPr>
              <a:t> with other apps in the market especially because it is designed to keep the elderly safe from fire in their homes. It is noteworthy to say that the elderly’s needs and requirements were considered in the creation of the app.</a:t>
            </a:r>
          </a:p>
        </p:txBody>
      </p:sp>
      <p:sp>
        <p:nvSpPr>
          <p:cNvPr id="10" name="TextBox 10"/>
          <p:cNvSpPr txBox="1"/>
          <p:nvPr/>
        </p:nvSpPr>
        <p:spPr>
          <a:xfrm>
            <a:off x="1189378" y="4892464"/>
            <a:ext cx="6810905" cy="1174750"/>
          </a:xfrm>
          <a:prstGeom prst="rect">
            <a:avLst/>
          </a:prstGeom>
        </p:spPr>
        <p:txBody>
          <a:bodyPr lIns="0" tIns="0" rIns="0" bIns="0" rtlCol="0" anchor="t">
            <a:spAutoFit/>
          </a:bodyPr>
          <a:lstStyle/>
          <a:p>
            <a:pPr marL="431799" lvl="1" indent="-215899" algn="just">
              <a:lnSpc>
                <a:spcPts val="3199"/>
              </a:lnSpc>
              <a:buFont typeface="Arial"/>
              <a:buChar char="•"/>
            </a:pPr>
            <a:r>
              <a:rPr lang="en-US" sz="1999">
                <a:solidFill>
                  <a:srgbClr val="000000"/>
                </a:solidFill>
                <a:latin typeface="Canva Sans"/>
              </a:rPr>
              <a:t>The evaluation does not only get feedback but also measures the efficiency and usability of the Wide Awake app. </a:t>
            </a:r>
          </a:p>
        </p:txBody>
      </p:sp>
      <p:sp>
        <p:nvSpPr>
          <p:cNvPr id="11" name="TextBox 11"/>
          <p:cNvSpPr txBox="1"/>
          <p:nvPr/>
        </p:nvSpPr>
        <p:spPr>
          <a:xfrm>
            <a:off x="1189378" y="3698664"/>
            <a:ext cx="6810905" cy="774700"/>
          </a:xfrm>
          <a:prstGeom prst="rect">
            <a:avLst/>
          </a:prstGeom>
        </p:spPr>
        <p:txBody>
          <a:bodyPr lIns="0" tIns="0" rIns="0" bIns="0" rtlCol="0" anchor="t">
            <a:spAutoFit/>
          </a:bodyPr>
          <a:lstStyle/>
          <a:p>
            <a:pPr marL="431799" lvl="1" indent="-215899" algn="just">
              <a:lnSpc>
                <a:spcPts val="3199"/>
              </a:lnSpc>
              <a:buFont typeface="Arial"/>
              <a:buChar char="•"/>
            </a:pPr>
            <a:r>
              <a:rPr lang="en-US" sz="1999">
                <a:solidFill>
                  <a:srgbClr val="000000"/>
                </a:solidFill>
                <a:latin typeface="Canva Sans"/>
              </a:rPr>
              <a:t>Performance of a task is successful when the user does exactly what the message/situation demands.</a:t>
            </a:r>
          </a:p>
        </p:txBody>
      </p:sp>
      <p:sp>
        <p:nvSpPr>
          <p:cNvPr id="12" name="TextBox 12"/>
          <p:cNvSpPr txBox="1"/>
          <p:nvPr/>
        </p:nvSpPr>
        <p:spPr>
          <a:xfrm>
            <a:off x="1189378" y="2372804"/>
            <a:ext cx="6810905" cy="774700"/>
          </a:xfrm>
          <a:prstGeom prst="rect">
            <a:avLst/>
          </a:prstGeom>
        </p:spPr>
        <p:txBody>
          <a:bodyPr lIns="0" tIns="0" rIns="0" bIns="0" rtlCol="0" anchor="t">
            <a:spAutoFit/>
          </a:bodyPr>
          <a:lstStyle/>
          <a:p>
            <a:pPr marL="431799" lvl="1" indent="-215899" algn="just">
              <a:lnSpc>
                <a:spcPts val="3199"/>
              </a:lnSpc>
              <a:buFont typeface="Arial"/>
              <a:buChar char="•"/>
            </a:pPr>
            <a:r>
              <a:rPr lang="en-US" sz="1999">
                <a:solidFill>
                  <a:srgbClr val="000000"/>
                </a:solidFill>
                <a:latin typeface="Canva Sans"/>
              </a:rPr>
              <a:t>The comments/observations/findings are noted by the researcher/evaluator.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16307"/>
            <a:ext cx="18288000" cy="1275834"/>
            <a:chOff x="0" y="0"/>
            <a:chExt cx="5020932" cy="336022"/>
          </a:xfrm>
        </p:grpSpPr>
        <p:sp>
          <p:nvSpPr>
            <p:cNvPr id="3" name="Freeform 3"/>
            <p:cNvSpPr/>
            <p:nvPr/>
          </p:nvSpPr>
          <p:spPr>
            <a:xfrm>
              <a:off x="0" y="0"/>
              <a:ext cx="5020932" cy="336022"/>
            </a:xfrm>
            <a:custGeom>
              <a:avLst/>
              <a:gdLst/>
              <a:ahLst/>
              <a:cxnLst/>
              <a:rect l="l" t="t" r="r" b="b"/>
              <a:pathLst>
                <a:path w="5020932" h="336022">
                  <a:moveTo>
                    <a:pt x="0" y="0"/>
                  </a:moveTo>
                  <a:lnTo>
                    <a:pt x="5020932" y="0"/>
                  </a:lnTo>
                  <a:lnTo>
                    <a:pt x="5020932" y="336022"/>
                  </a:lnTo>
                  <a:lnTo>
                    <a:pt x="0" y="336022"/>
                  </a:lnTo>
                  <a:close/>
                </a:path>
              </a:pathLst>
            </a:custGeom>
            <a:solidFill>
              <a:srgbClr val="DDDEDE"/>
            </a:solidFill>
            <a:ln w="38100">
              <a:solidFill>
                <a:srgbClr val="F1F2F2"/>
              </a:solidFill>
            </a:ln>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0" y="1680759"/>
            <a:ext cx="3630502" cy="3630502"/>
          </a:xfrm>
          <a:custGeom>
            <a:avLst/>
            <a:gdLst/>
            <a:ahLst/>
            <a:cxnLst/>
            <a:rect l="l" t="t" r="r" b="b"/>
            <a:pathLst>
              <a:path w="3630502" h="3630502">
                <a:moveTo>
                  <a:pt x="0" y="0"/>
                </a:moveTo>
                <a:lnTo>
                  <a:pt x="3630501" y="0"/>
                </a:lnTo>
                <a:lnTo>
                  <a:pt x="3630501" y="3630502"/>
                </a:lnTo>
                <a:lnTo>
                  <a:pt x="0" y="3630502"/>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sp>
      <p:sp>
        <p:nvSpPr>
          <p:cNvPr id="6" name="Freeform 6"/>
          <p:cNvSpPr/>
          <p:nvPr/>
        </p:nvSpPr>
        <p:spPr>
          <a:xfrm>
            <a:off x="413118" y="3977554"/>
            <a:ext cx="2287222" cy="2287222"/>
          </a:xfrm>
          <a:custGeom>
            <a:avLst/>
            <a:gdLst/>
            <a:ahLst/>
            <a:cxnLst/>
            <a:rect l="l" t="t" r="r" b="b"/>
            <a:pathLst>
              <a:path w="2287222" h="2287222">
                <a:moveTo>
                  <a:pt x="0" y="0"/>
                </a:moveTo>
                <a:lnTo>
                  <a:pt x="2287222" y="0"/>
                </a:lnTo>
                <a:lnTo>
                  <a:pt x="2287222" y="2287222"/>
                </a:lnTo>
                <a:lnTo>
                  <a:pt x="0" y="2287222"/>
                </a:lnTo>
                <a:lnTo>
                  <a:pt x="0" y="0"/>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sp>
        <p:nvSpPr>
          <p:cNvPr id="7" name="Freeform 7"/>
          <p:cNvSpPr/>
          <p:nvPr/>
        </p:nvSpPr>
        <p:spPr>
          <a:xfrm>
            <a:off x="15358762" y="5523496"/>
            <a:ext cx="2837586" cy="3024558"/>
          </a:xfrm>
          <a:custGeom>
            <a:avLst/>
            <a:gdLst/>
            <a:ahLst/>
            <a:cxnLst/>
            <a:rect l="l" t="t" r="r" b="b"/>
            <a:pathLst>
              <a:path w="2837586" h="3024558">
                <a:moveTo>
                  <a:pt x="0" y="0"/>
                </a:moveTo>
                <a:lnTo>
                  <a:pt x="2837586" y="0"/>
                </a:lnTo>
                <a:lnTo>
                  <a:pt x="2837586" y="3024558"/>
                </a:lnTo>
                <a:lnTo>
                  <a:pt x="0" y="3024558"/>
                </a:lnTo>
                <a:lnTo>
                  <a:pt x="0" y="0"/>
                </a:lnTo>
                <a:close/>
              </a:path>
            </a:pathLst>
          </a:custGeom>
          <a:blipFill>
            <a:blip r:embed="rId6">
              <a:alphaModFix amt="5000"/>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4019920" y="644907"/>
            <a:ext cx="10248160" cy="1881412"/>
          </a:xfrm>
          <a:prstGeom prst="rect">
            <a:avLst/>
          </a:prstGeom>
        </p:spPr>
        <p:txBody>
          <a:bodyPr lIns="0" tIns="0" rIns="0" bIns="0" rtlCol="0" anchor="t">
            <a:spAutoFit/>
          </a:bodyPr>
          <a:lstStyle/>
          <a:p>
            <a:pPr algn="ctr">
              <a:lnSpc>
                <a:spcPts val="7200"/>
              </a:lnSpc>
            </a:pPr>
            <a:r>
              <a:rPr lang="en-US" sz="8000" dirty="0">
                <a:solidFill>
                  <a:srgbClr val="000000"/>
                </a:solidFill>
                <a:latin typeface="Fredoka One"/>
              </a:rPr>
              <a:t>CONCLUSION</a:t>
            </a:r>
          </a:p>
          <a:p>
            <a:pPr algn="ctr">
              <a:lnSpc>
                <a:spcPts val="7200"/>
              </a:lnSpc>
            </a:pPr>
            <a:endParaRPr lang="en-US" sz="8000" dirty="0">
              <a:solidFill>
                <a:srgbClr val="0B2F3D"/>
              </a:solidFill>
              <a:latin typeface="Abril Fatface"/>
            </a:endParaRPr>
          </a:p>
        </p:txBody>
      </p:sp>
      <p:grpSp>
        <p:nvGrpSpPr>
          <p:cNvPr id="9" name="Group 9"/>
          <p:cNvGrpSpPr/>
          <p:nvPr/>
        </p:nvGrpSpPr>
        <p:grpSpPr>
          <a:xfrm>
            <a:off x="1576638" y="2437395"/>
            <a:ext cx="15200917" cy="7138787"/>
            <a:chOff x="0" y="0"/>
            <a:chExt cx="4003534" cy="1880174"/>
          </a:xfrm>
        </p:grpSpPr>
        <p:sp>
          <p:nvSpPr>
            <p:cNvPr id="10" name="Freeform 10"/>
            <p:cNvSpPr/>
            <p:nvPr/>
          </p:nvSpPr>
          <p:spPr>
            <a:xfrm>
              <a:off x="0" y="0"/>
              <a:ext cx="4003534" cy="1880174"/>
            </a:xfrm>
            <a:custGeom>
              <a:avLst/>
              <a:gdLst/>
              <a:ahLst/>
              <a:cxnLst/>
              <a:rect l="l" t="t" r="r" b="b"/>
              <a:pathLst>
                <a:path w="4003534" h="1880174">
                  <a:moveTo>
                    <a:pt x="25975" y="0"/>
                  </a:moveTo>
                  <a:lnTo>
                    <a:pt x="3977559" y="0"/>
                  </a:lnTo>
                  <a:cubicBezTo>
                    <a:pt x="3991904" y="0"/>
                    <a:pt x="4003534" y="11629"/>
                    <a:pt x="4003534" y="25975"/>
                  </a:cubicBezTo>
                  <a:lnTo>
                    <a:pt x="4003534" y="1854200"/>
                  </a:lnTo>
                  <a:cubicBezTo>
                    <a:pt x="4003534" y="1861089"/>
                    <a:pt x="4000797" y="1867695"/>
                    <a:pt x="3995926" y="1872567"/>
                  </a:cubicBezTo>
                  <a:cubicBezTo>
                    <a:pt x="3991054" y="1877438"/>
                    <a:pt x="3984448" y="1880174"/>
                    <a:pt x="3977559" y="1880174"/>
                  </a:cubicBezTo>
                  <a:lnTo>
                    <a:pt x="25975" y="1880174"/>
                  </a:lnTo>
                  <a:cubicBezTo>
                    <a:pt x="19086" y="1880174"/>
                    <a:pt x="12479" y="1877438"/>
                    <a:pt x="7608" y="1872567"/>
                  </a:cubicBezTo>
                  <a:cubicBezTo>
                    <a:pt x="2737" y="1867695"/>
                    <a:pt x="0" y="1861089"/>
                    <a:pt x="0" y="1854200"/>
                  </a:cubicBezTo>
                  <a:lnTo>
                    <a:pt x="0" y="25975"/>
                  </a:lnTo>
                  <a:cubicBezTo>
                    <a:pt x="0" y="11629"/>
                    <a:pt x="11629" y="0"/>
                    <a:pt x="25975" y="0"/>
                  </a:cubicBezTo>
                  <a:close/>
                </a:path>
              </a:pathLst>
            </a:custGeom>
            <a:solidFill>
              <a:srgbClr val="F1F2F2"/>
            </a:solidFill>
          </p:spPr>
        </p:sp>
        <p:sp>
          <p:nvSpPr>
            <p:cNvPr id="11" name="TextBox 11"/>
            <p:cNvSpPr txBox="1"/>
            <p:nvPr/>
          </p:nvSpPr>
          <p:spPr>
            <a:xfrm>
              <a:off x="0" y="28575"/>
              <a:ext cx="812800" cy="784225"/>
            </a:xfrm>
            <a:prstGeom prst="rect">
              <a:avLst/>
            </a:prstGeom>
          </p:spPr>
          <p:txBody>
            <a:bodyPr lIns="50800" tIns="50800" rIns="50800" bIns="50800" rtlCol="0" anchor="ctr"/>
            <a:lstStyle/>
            <a:p>
              <a:pPr algn="ctr">
                <a:lnSpc>
                  <a:spcPts val="1663"/>
                </a:lnSpc>
              </a:pPr>
              <a:endParaRPr/>
            </a:p>
          </p:txBody>
        </p:sp>
      </p:grpSp>
      <p:grpSp>
        <p:nvGrpSpPr>
          <p:cNvPr id="12" name="Group 12"/>
          <p:cNvGrpSpPr/>
          <p:nvPr/>
        </p:nvGrpSpPr>
        <p:grpSpPr>
          <a:xfrm>
            <a:off x="4800600" y="2060910"/>
            <a:ext cx="8610600" cy="752971"/>
            <a:chOff x="0" y="0"/>
            <a:chExt cx="4692614" cy="449969"/>
          </a:xfrm>
        </p:grpSpPr>
        <p:sp>
          <p:nvSpPr>
            <p:cNvPr id="13" name="Freeform 13"/>
            <p:cNvSpPr/>
            <p:nvPr/>
          </p:nvSpPr>
          <p:spPr>
            <a:xfrm>
              <a:off x="203200" y="-361"/>
              <a:ext cx="4286214" cy="450690"/>
            </a:xfrm>
            <a:custGeom>
              <a:avLst/>
              <a:gdLst/>
              <a:ahLst/>
              <a:cxnLst/>
              <a:rect l="l" t="t" r="r" b="b"/>
              <a:pathLst>
                <a:path w="4286214" h="450690">
                  <a:moveTo>
                    <a:pt x="4286214" y="361"/>
                  </a:moveTo>
                  <a:cubicBezTo>
                    <a:pt x="4205596" y="0"/>
                    <a:pt x="4130946" y="42803"/>
                    <a:pt x="4090532" y="112562"/>
                  </a:cubicBezTo>
                  <a:cubicBezTo>
                    <a:pt x="4050118" y="182320"/>
                    <a:pt x="4050118" y="268371"/>
                    <a:pt x="4090532" y="338129"/>
                  </a:cubicBezTo>
                  <a:cubicBezTo>
                    <a:pt x="4130946" y="407888"/>
                    <a:pt x="4205596" y="450690"/>
                    <a:pt x="4286214" y="450330"/>
                  </a:cubicBezTo>
                  <a:lnTo>
                    <a:pt x="0" y="450330"/>
                  </a:lnTo>
                  <a:cubicBezTo>
                    <a:pt x="80619" y="450690"/>
                    <a:pt x="155269" y="407888"/>
                    <a:pt x="195682" y="338129"/>
                  </a:cubicBezTo>
                  <a:cubicBezTo>
                    <a:pt x="236096" y="268371"/>
                    <a:pt x="236096" y="182320"/>
                    <a:pt x="195682" y="112562"/>
                  </a:cubicBezTo>
                  <a:cubicBezTo>
                    <a:pt x="155269" y="42803"/>
                    <a:pt x="80619" y="0"/>
                    <a:pt x="0" y="361"/>
                  </a:cubicBezTo>
                  <a:close/>
                </a:path>
              </a:pathLst>
            </a:custGeom>
            <a:solidFill>
              <a:srgbClr val="5A5957"/>
            </a:solidFill>
          </p:spPr>
        </p:sp>
        <p:sp>
          <p:nvSpPr>
            <p:cNvPr id="14" name="TextBox 14"/>
            <p:cNvSpPr txBox="1"/>
            <p:nvPr/>
          </p:nvSpPr>
          <p:spPr>
            <a:xfrm>
              <a:off x="0" y="19050"/>
              <a:ext cx="812800" cy="387350"/>
            </a:xfrm>
            <a:prstGeom prst="rect">
              <a:avLst/>
            </a:prstGeom>
          </p:spPr>
          <p:txBody>
            <a:bodyPr lIns="50800" tIns="50800" rIns="50800" bIns="50800" rtlCol="0" anchor="ctr"/>
            <a:lstStyle/>
            <a:p>
              <a:pPr algn="ctr">
                <a:lnSpc>
                  <a:spcPts val="1942"/>
                </a:lnSpc>
              </a:pPr>
              <a:endParaRPr/>
            </a:p>
          </p:txBody>
        </p:sp>
      </p:grpSp>
      <p:sp>
        <p:nvSpPr>
          <p:cNvPr id="15" name="TextBox 15"/>
          <p:cNvSpPr txBox="1"/>
          <p:nvPr/>
        </p:nvSpPr>
        <p:spPr>
          <a:xfrm>
            <a:off x="2597265" y="3252030"/>
            <a:ext cx="13243242" cy="5936818"/>
          </a:xfrm>
          <a:prstGeom prst="rect">
            <a:avLst/>
          </a:prstGeom>
        </p:spPr>
        <p:txBody>
          <a:bodyPr lIns="0" tIns="0" rIns="0" bIns="0" rtlCol="0" anchor="t">
            <a:spAutoFit/>
          </a:bodyPr>
          <a:lstStyle/>
          <a:p>
            <a:pPr marL="518158" lvl="1" indent="-259079" algn="just">
              <a:lnSpc>
                <a:spcPts val="2879"/>
              </a:lnSpc>
              <a:buFont typeface="Arial"/>
              <a:buChar char="•"/>
            </a:pPr>
            <a:r>
              <a:rPr lang="en-US" sz="2399" dirty="0">
                <a:solidFill>
                  <a:schemeClr val="tx1">
                    <a:lumMod val="75000"/>
                    <a:lumOff val="25000"/>
                  </a:schemeClr>
                </a:solidFill>
                <a:latin typeface="Open Sans"/>
              </a:rPr>
              <a:t>Researchers and future technology can further improve the app to make it better and worthwhile for the elderly so the study can be replicated. </a:t>
            </a:r>
          </a:p>
          <a:p>
            <a:pPr algn="just">
              <a:lnSpc>
                <a:spcPts val="2879"/>
              </a:lnSpc>
            </a:pPr>
            <a:endParaRPr lang="en-US" sz="2399" dirty="0">
              <a:solidFill>
                <a:schemeClr val="tx1">
                  <a:lumMod val="75000"/>
                  <a:lumOff val="25000"/>
                </a:schemeClr>
              </a:solidFill>
              <a:latin typeface="Open Sans"/>
            </a:endParaRPr>
          </a:p>
          <a:p>
            <a:pPr marL="518158" lvl="1" indent="-259079" algn="just">
              <a:lnSpc>
                <a:spcPts val="2879"/>
              </a:lnSpc>
              <a:buFont typeface="Arial"/>
              <a:buChar char="•"/>
            </a:pPr>
            <a:r>
              <a:rPr lang="en-US" sz="2399" dirty="0">
                <a:solidFill>
                  <a:schemeClr val="tx1">
                    <a:lumMod val="75000"/>
                    <a:lumOff val="25000"/>
                  </a:schemeClr>
                </a:solidFill>
                <a:latin typeface="Open Sans"/>
              </a:rPr>
              <a:t>The interface provides easy to understand and manage messages and instructions in clear simple language shown in big letters, big familiar fonts, and colors added will not hurt the user’s eyes nor negatively affect his declining vision. </a:t>
            </a:r>
          </a:p>
          <a:p>
            <a:pPr algn="just">
              <a:lnSpc>
                <a:spcPts val="2879"/>
              </a:lnSpc>
            </a:pPr>
            <a:endParaRPr lang="en-US" sz="2399" dirty="0">
              <a:solidFill>
                <a:schemeClr val="tx1">
                  <a:lumMod val="75000"/>
                  <a:lumOff val="25000"/>
                </a:schemeClr>
              </a:solidFill>
              <a:latin typeface="Open Sans"/>
            </a:endParaRPr>
          </a:p>
          <a:p>
            <a:pPr marL="518158" lvl="1" indent="-259079" algn="just">
              <a:lnSpc>
                <a:spcPts val="2879"/>
              </a:lnSpc>
              <a:buFont typeface="Arial"/>
              <a:buChar char="•"/>
            </a:pPr>
            <a:r>
              <a:rPr lang="en-US" sz="2399" dirty="0">
                <a:solidFill>
                  <a:schemeClr val="tx1">
                    <a:lumMod val="75000"/>
                    <a:lumOff val="25000"/>
                  </a:schemeClr>
                </a:solidFill>
                <a:latin typeface="Open Sans"/>
              </a:rPr>
              <a:t>Furthermore, the elderly users’ needs and requirements have been considered in the design of the Wide Awake app; thus, the benefits expected from the app are valid and measurable. </a:t>
            </a:r>
          </a:p>
          <a:p>
            <a:pPr algn="just">
              <a:lnSpc>
                <a:spcPts val="2879"/>
              </a:lnSpc>
            </a:pPr>
            <a:endParaRPr lang="en-US" sz="2399" dirty="0">
              <a:solidFill>
                <a:schemeClr val="tx1">
                  <a:lumMod val="75000"/>
                  <a:lumOff val="25000"/>
                </a:schemeClr>
              </a:solidFill>
              <a:latin typeface="Open Sans"/>
            </a:endParaRPr>
          </a:p>
          <a:p>
            <a:pPr marL="518158" lvl="1" indent="-259079" algn="just">
              <a:lnSpc>
                <a:spcPts val="2879"/>
              </a:lnSpc>
              <a:buFont typeface="Arial"/>
              <a:buChar char="•"/>
            </a:pPr>
            <a:r>
              <a:rPr lang="en-US" sz="2399" dirty="0">
                <a:solidFill>
                  <a:schemeClr val="tx1">
                    <a:lumMod val="75000"/>
                    <a:lumOff val="25000"/>
                  </a:schemeClr>
                </a:solidFill>
                <a:latin typeface="Open Sans"/>
              </a:rPr>
              <a:t>There will be no unexpected effects or bias since the app is intended to ensure safety of the elderly from fire hazards. </a:t>
            </a:r>
          </a:p>
          <a:p>
            <a:pPr algn="just">
              <a:lnSpc>
                <a:spcPts val="2879"/>
              </a:lnSpc>
            </a:pPr>
            <a:endParaRPr lang="en-US" sz="2399" dirty="0">
              <a:solidFill>
                <a:schemeClr val="tx1">
                  <a:lumMod val="75000"/>
                  <a:lumOff val="25000"/>
                </a:schemeClr>
              </a:solidFill>
              <a:latin typeface="Open Sans"/>
            </a:endParaRPr>
          </a:p>
          <a:p>
            <a:pPr marL="518158" lvl="1" indent="-259079" algn="just">
              <a:lnSpc>
                <a:spcPts val="2879"/>
              </a:lnSpc>
              <a:buFont typeface="Arial"/>
              <a:buChar char="•"/>
            </a:pPr>
            <a:r>
              <a:rPr lang="en-US" sz="2399" dirty="0">
                <a:solidFill>
                  <a:schemeClr val="tx1">
                    <a:lumMod val="75000"/>
                    <a:lumOff val="25000"/>
                  </a:schemeClr>
                </a:solidFill>
                <a:latin typeface="Open Sans"/>
              </a:rPr>
              <a:t>The findings can be generalized as they are common in everyday life and technological advances have come so far in seeking a fire-hazard free environment for the elderly. </a:t>
            </a:r>
          </a:p>
        </p:txBody>
      </p:sp>
      <p:sp>
        <p:nvSpPr>
          <p:cNvPr id="16" name="TextBox 16"/>
          <p:cNvSpPr txBox="1"/>
          <p:nvPr/>
        </p:nvSpPr>
        <p:spPr>
          <a:xfrm>
            <a:off x="5383618" y="2261183"/>
            <a:ext cx="7586956" cy="400050"/>
          </a:xfrm>
          <a:prstGeom prst="rect">
            <a:avLst/>
          </a:prstGeom>
        </p:spPr>
        <p:txBody>
          <a:bodyPr lIns="0" tIns="0" rIns="0" bIns="0" rtlCol="0" anchor="t">
            <a:spAutoFit/>
          </a:bodyPr>
          <a:lstStyle/>
          <a:p>
            <a:pPr algn="ctr">
              <a:lnSpc>
                <a:spcPts val="2999"/>
              </a:lnSpc>
            </a:pPr>
            <a:r>
              <a:rPr lang="en-US" sz="2999" dirty="0">
                <a:solidFill>
                  <a:srgbClr val="FFFFFF"/>
                </a:solidFill>
                <a:latin typeface="Roboto Bold"/>
              </a:rPr>
              <a:t>Limitation of the Wide App/Conclusion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981</Words>
  <Application>Microsoft Office PowerPoint</Application>
  <PresentationFormat>Custom</PresentationFormat>
  <Paragraphs>112</Paragraphs>
  <Slides>10</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10</vt:i4>
      </vt:variant>
    </vt:vector>
  </HeadingPairs>
  <TitlesOfParts>
    <vt:vector size="26" baseType="lpstr">
      <vt:lpstr>Canva Sans</vt:lpstr>
      <vt:lpstr>Arial</vt:lpstr>
      <vt:lpstr>Fredoka One Bold</vt:lpstr>
      <vt:lpstr>DM Sans</vt:lpstr>
      <vt:lpstr>Abril Fatface</vt:lpstr>
      <vt:lpstr>Fredoka One</vt:lpstr>
      <vt:lpstr>League Spartan</vt:lpstr>
      <vt:lpstr>Canva Sans Bold</vt:lpstr>
      <vt:lpstr>DM Sans Bold</vt:lpstr>
      <vt:lpstr>Nunito Bold</vt:lpstr>
      <vt:lpstr>Open Sauce Light</vt:lpstr>
      <vt:lpstr>Calibri</vt:lpstr>
      <vt:lpstr>Open Sans</vt:lpstr>
      <vt:lpstr>Nunito</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Launch Presentation With Mockups</dc:title>
  <cp:lastModifiedBy>Patricia La Madrid</cp:lastModifiedBy>
  <cp:revision>8</cp:revision>
  <dcterms:created xsi:type="dcterms:W3CDTF">2006-08-16T00:00:00Z</dcterms:created>
  <dcterms:modified xsi:type="dcterms:W3CDTF">2023-07-14T09:20:27Z</dcterms:modified>
  <dc:identifier>DAFogPTTJ5E</dc:identifier>
</cp:coreProperties>
</file>